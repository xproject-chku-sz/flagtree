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21b7c5de054eeb" /><Relationship Type="http://schemas.openxmlformats.org/officeDocument/2006/relationships/extended-properties" Target="/docProps/app.xml" Id="Rb717fefe33da4a2e" /><Relationship Type="http://schemas.openxmlformats.org/officeDocument/2006/relationships/officeDocument" Target="/ppt/presentation.xml" Id="Re64e4ed7fc58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450971a9d4088"/>
  </p:sldMasterIdLst>
  <p:notesMasterIdLst>
    <p:notesMasterId xmlns:r="http://schemas.openxmlformats.org/officeDocument/2006/relationships" r:id="R7de9f04cbe05433f"/>
  </p:notesMasterIdLst>
  <p:sldIdLst>
    <p:sldId xmlns:r="http://schemas.openxmlformats.org/officeDocument/2006/relationships" id="256" r:id="Ra49fc576f74b4f03"/>
    <p:sldId xmlns:r="http://schemas.openxmlformats.org/officeDocument/2006/relationships" id="257" r:id="R082161ea63704874"/>
    <p:sldId xmlns:r="http://schemas.openxmlformats.org/officeDocument/2006/relationships" id="258" r:id="R9fc8c7df43754975"/>
    <p:sldId xmlns:r="http://schemas.openxmlformats.org/officeDocument/2006/relationships" id="259" r:id="Rd1c381cea3c3455c"/>
    <p:sldId xmlns:r="http://schemas.openxmlformats.org/officeDocument/2006/relationships" id="260" r:id="Rf5f38c1929e24b76"/>
    <p:sldId xmlns:r="http://schemas.openxmlformats.org/officeDocument/2006/relationships" id="261" r:id="R4bd9b807635c4d07"/>
    <p:sldId xmlns:r="http://schemas.openxmlformats.org/officeDocument/2006/relationships" id="262" r:id="R89e04c2d075a4a90"/>
    <p:sldId xmlns:r="http://schemas.openxmlformats.org/officeDocument/2006/relationships" id="263" r:id="Rb8846ef5c0424a92"/>
    <p:sldId xmlns:r="http://schemas.openxmlformats.org/officeDocument/2006/relationships" id="264" r:id="R9f370b9811464749"/>
    <p:sldId xmlns:r="http://schemas.openxmlformats.org/officeDocument/2006/relationships" id="265" r:id="R16ef7f0a7f8e4c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47f413d8d4492" /><Relationship Type="http://schemas.openxmlformats.org/officeDocument/2006/relationships/slideMaster" Target="/ppt/slideMasters/slideMaster1.xml" Id="Rca6450971a9d4088" /><Relationship Type="http://schemas.openxmlformats.org/officeDocument/2006/relationships/notesMaster" Target="/ppt/notesMasters/notesMaster1.xml" Id="R7de9f04cbe05433f" /><Relationship Type="http://schemas.openxmlformats.org/officeDocument/2006/relationships/presProps" Target="/ppt/presProps.xml" Id="Rec5e77ac64fb4b37" /><Relationship Type="http://schemas.openxmlformats.org/officeDocument/2006/relationships/tableStyles" Target="/ppt/tableStyles.xml" Id="R9fedc5a5d7884f7d" /><Relationship Type="http://schemas.openxmlformats.org/officeDocument/2006/relationships/slide" Target="/ppt/slides/slide1.xml" Id="Ra49fc576f74b4f03" /><Relationship Type="http://schemas.openxmlformats.org/officeDocument/2006/relationships/slide" Target="/ppt/slides/slide2.xml" Id="R082161ea63704874" /><Relationship Type="http://schemas.openxmlformats.org/officeDocument/2006/relationships/slide" Target="/ppt/slides/slide3.xml" Id="R9fc8c7df43754975" /><Relationship Type="http://schemas.openxmlformats.org/officeDocument/2006/relationships/slide" Target="/ppt/slides/slide4.xml" Id="Rd1c381cea3c3455c" /><Relationship Type="http://schemas.openxmlformats.org/officeDocument/2006/relationships/slide" Target="/ppt/slides/slide5.xml" Id="Rf5f38c1929e24b76" /><Relationship Type="http://schemas.openxmlformats.org/officeDocument/2006/relationships/slide" Target="/ppt/slides/slide6.xml" Id="R4bd9b807635c4d07" /><Relationship Type="http://schemas.openxmlformats.org/officeDocument/2006/relationships/slide" Target="/ppt/slides/slide7.xml" Id="R89e04c2d075a4a90" /><Relationship Type="http://schemas.openxmlformats.org/officeDocument/2006/relationships/slide" Target="/ppt/slides/slide8.xml" Id="Rb8846ef5c0424a92" /><Relationship Type="http://schemas.openxmlformats.org/officeDocument/2006/relationships/slide" Target="/ppt/slides/slide9.xml" Id="R9f370b9811464749" /><Relationship Type="http://schemas.openxmlformats.org/officeDocument/2006/relationships/slide" Target="/ppt/slides/slide10.xml" Id="R16ef7f0a7f8e4c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37f52570f47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db4e26f1524742" /><Relationship Type="http://schemas.openxmlformats.org/officeDocument/2006/relationships/notesMaster" Target="/ppt/notesMasters/notesMaster1.xml" Id="R900859d47429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0155c0dc04cbd" /><Relationship Type="http://schemas.openxmlformats.org/officeDocument/2006/relationships/notesMaster" Target="/ppt/notesMasters/notesMaster1.xml" Id="Rd11aac853c7e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12b6c7952c423f" /><Relationship Type="http://schemas.openxmlformats.org/officeDocument/2006/relationships/notesMaster" Target="/ppt/notesMasters/notesMaster1.xml" Id="Rc8b874a0122b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f464131454386" /><Relationship Type="http://schemas.openxmlformats.org/officeDocument/2006/relationships/notesMaster" Target="/ppt/notesMasters/notesMaster1.xml" Id="R21efc9dd6e5347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0ecdc711074171" /><Relationship Type="http://schemas.openxmlformats.org/officeDocument/2006/relationships/notesMaster" Target="/ppt/notesMasters/notesMaster1.xml" Id="R26f6841f7ac4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991ff0c4064dbe" /><Relationship Type="http://schemas.openxmlformats.org/officeDocument/2006/relationships/notesMaster" Target="/ppt/notesMasters/notesMaster1.xml" Id="R666b757bc67b40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03223638c847ac" /><Relationship Type="http://schemas.openxmlformats.org/officeDocument/2006/relationships/notesMaster" Target="/ppt/notesMasters/notesMaster1.xml" Id="R8d4bb54f8e8843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36ae603eb04546" /><Relationship Type="http://schemas.openxmlformats.org/officeDocument/2006/relationships/notesMaster" Target="/ppt/notesMasters/notesMaster1.xml" Id="R26778b49ad294d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c3ed01a2cf4819" /><Relationship Type="http://schemas.openxmlformats.org/officeDocument/2006/relationships/notesMaster" Target="/ppt/notesMasters/notesMaster1.xml" Id="R731005035d1742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2affd823a14a25" /><Relationship Type="http://schemas.openxmlformats.org/officeDocument/2006/relationships/notesMaster" Target="/ppt/notesMasters/notesMaster1.xml" Id="R682b30240fbf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资料来源：功能模块1进展记录、功能模块2进展记录、dev/hx 提交 ccd65da33</a:t>
            </a:r>
          </a:p>
          <a:p xmlns:a="http://schemas.openxmlformats.org/drawingml/2006/main">
            <a:r>
              <a:t>讲解提示：开场说明本次汇报聚焦两个相互衔接的功能模块，所有百分比均保留明确分母和适用范围。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资料来源：功能模块1进展记录第2节；功能模块2进展记录第2节</a:t>
            </a:r>
          </a:p>
          <a:p xmlns:a="http://schemas.openxmlformats.org/drawingml/2006/main">
            <a:r>
              <a:t>讲解提示：强调 TensorFlow 的正确路径是先经 tf2onnx 形成 ONNX，再进入 onnx2torch 和动态 Shape 兼容层。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资料来源：功能模块1完整进展记录第3、4、6节；model_import_adapters/README.md</a:t>
            </a:r>
          </a:p>
          <a:p xmlns:a="http://schemas.openxmlformats.org/drawingml/2006/main">
            <a:r>
              <a:t>讲解提示：说明模块一交付的是可复验产物链路，而不是某个模型专用脚本。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资料来源：功能模块1完整进展记录第4、5节；EmbeddingGemma STS12 精度报告</a:t>
            </a:r>
          </a:p>
          <a:p xmlns:a="http://schemas.openxmlformats.org/drawingml/2006/main">
            <a:r>
              <a:t>讲解提示：先解释动态 Shape 的技术障碍，再用四组代表性证据说明当前闭环范围。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资料来源：功能模块2进展记录第3.1至3.5、3.9、3.10节；docs/model-ir-semantics.md</a:t>
            </a:r>
          </a:p>
          <a:p xmlns:a="http://schemas.openxmlformats.org/drawingml/2006/main">
            <a:r>
              <a:t>讲解提示：强调语义契约会随模型产物执行，它不是仅供阅读的规范文档。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资料来源：功能模块2进展记录第4.7节；MiniLM 与 bge-m3 semantic_rule_audit.md</a:t>
            </a:r>
          </a:p>
          <a:p xmlns:a="http://schemas.openxmlformats.org/drawingml/2006/main">
            <a:r>
              <a:t>讲解提示：先解释执行比例的分母，再说明两个真实模型均无规则失败，但仍有未实现和元数据不足项。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资料来源：功能模块1与功能模块2进展记录第4节；EmbeddingGemma STS12 精度报告</a:t>
            </a:r>
          </a:p>
          <a:p xmlns:a="http://schemas.openxmlformats.org/drawingml/2006/main">
            <a:r>
              <a:t>讲解提示：用表格说明证据分布，不把单模型结果外推为全模型兼容率。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资料来源：功能模块2进展记录第6节；项目历史讨论中的完成度口径</a:t>
            </a:r>
          </a:p>
          <a:p xmlns:a="http://schemas.openxmlformats.org/drawingml/2006/main">
            <a:r>
              <a:t>讲解提示：明确说明为什么不能说整体 100%，并要求后续始终分开报告四类覆盖率。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资料来源：功能模块2进展记录第6节；500模型适配梳理与精度记录</a:t>
            </a:r>
          </a:p>
          <a:p xmlns:a="http://schemas.openxmlformats.org/drawingml/2006/main">
            <a:r>
              <a:t>讲解提示：说明优先级来自现有审计缺口，而不是平均分配工作量。CI 按当前安排暂不纳入主线。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资料来源：dev/hx 提交 ccd65da33；功能模块1与2最新进展记录</a:t>
            </a:r>
          </a:p>
          <a:p xmlns:a="http://schemas.openxmlformats.org/drawingml/2006/main">
            <a:r>
              <a:t>讲解提示：结尾请求项目方确认完整模型集、验收范围和运行版本，避免不同团队使用不同分母或不同环境评估。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357613064f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1b9252e43484f" /><Relationship Type="http://schemas.openxmlformats.org/officeDocument/2006/relationships/slideLayout" Target="/ppt/slideLayouts/slideLayout1.xml" Id="Re58ef3f5eb00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8ef3f5eb00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ac5ad11c42fa" /><Relationship Type="http://schemas.openxmlformats.org/officeDocument/2006/relationships/image" Target="/ppt/media/image.png" Id="R5345e072be8848bc" /><Relationship Type="http://schemas.openxmlformats.org/officeDocument/2006/relationships/notesSlide" Target="/ppt/notesSlides/notesSlide1.xml" Id="Rd30177706ddb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1a193b4f94e0b" /><Relationship Type="http://schemas.openxmlformats.org/officeDocument/2006/relationships/image" Target="/ppt/media/image2.png" Id="R7efb8c9d11d24943" /><Relationship Type="http://schemas.openxmlformats.org/officeDocument/2006/relationships/notesSlide" Target="/ppt/notesSlides/notesSlide2.xml" Id="R8347c6faff714c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ce3eabb6e4a03" /><Relationship Type="http://schemas.openxmlformats.org/officeDocument/2006/relationships/image" Target="/ppt/media/image3.png" Id="R37d9d39128944a4a" /><Relationship Type="http://schemas.openxmlformats.org/officeDocument/2006/relationships/notesSlide" Target="/ppt/notesSlides/notesSlide3.xml" Id="Re2f4665a023148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fe519d35941cd" /><Relationship Type="http://schemas.openxmlformats.org/officeDocument/2006/relationships/image" Target="/ppt/media/image4.png" Id="R3c78689c34eb4b69" /><Relationship Type="http://schemas.openxmlformats.org/officeDocument/2006/relationships/notesSlide" Target="/ppt/notesSlides/notesSlide4.xml" Id="Rb621b9cb03c641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2843c4cca4755" /><Relationship Type="http://schemas.openxmlformats.org/officeDocument/2006/relationships/image" Target="/ppt/media/image5.png" Id="R1ced4a4d8cfe46e3" /><Relationship Type="http://schemas.openxmlformats.org/officeDocument/2006/relationships/notesSlide" Target="/ppt/notesSlides/notesSlide5.xml" Id="R5d11384e06644a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4226ccea94546" /><Relationship Type="http://schemas.openxmlformats.org/officeDocument/2006/relationships/image" Target="/ppt/media/image6.png" Id="R130c5b30c2304f7b" /><Relationship Type="http://schemas.openxmlformats.org/officeDocument/2006/relationships/chart" Target="/ppt/slides/charts/chart1.xml" Id="R1c460135af254f98" /><Relationship Type="http://schemas.openxmlformats.org/officeDocument/2006/relationships/notesSlide" Target="/ppt/notesSlides/notesSlide6.xml" Id="R6b6c0f2a86df4f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c594c1a814ae5" /><Relationship Type="http://schemas.openxmlformats.org/officeDocument/2006/relationships/image" Target="/ppt/media/image7.png" Id="R40780f8cbcd44233" /><Relationship Type="http://schemas.openxmlformats.org/officeDocument/2006/relationships/notesSlide" Target="/ppt/notesSlides/notesSlide7.xml" Id="R29e8c52db4a04e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cf692ff9b4175" /><Relationship Type="http://schemas.openxmlformats.org/officeDocument/2006/relationships/image" Target="/ppt/media/image8.png" Id="R8a67f50ee9f048ba" /><Relationship Type="http://schemas.openxmlformats.org/officeDocument/2006/relationships/notesSlide" Target="/ppt/notesSlides/notesSlide8.xml" Id="Rb07ca5f50c5347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f946a2d5640cc" /><Relationship Type="http://schemas.openxmlformats.org/officeDocument/2006/relationships/image" Target="/ppt/media/image9.png" Id="Ra5436b7668184153" /><Relationship Type="http://schemas.openxmlformats.org/officeDocument/2006/relationships/notesSlide" Target="/ppt/notesSlides/notesSlide9.xml" Id="R967ac06acbb4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eae7b06194600" /><Relationship Type="http://schemas.openxmlformats.org/officeDocument/2006/relationships/image" Target="/ppt/media/image10.png" Id="R831f95b99abf420c" /><Relationship Type="http://schemas.openxmlformats.org/officeDocument/2006/relationships/notesSlide" Target="/ppt/notesSlides/notesSlide10.xml" Id="R6e0ad37f43db416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规则实际执行比例</c:v>
          </c:tx>
          <c:spPr>
            <a:solidFill xmlns:a="http://schemas.openxmlformats.org/drawingml/2006/main">
              <a:srgbClr val="4B84C4"/>
            </a:solidFill>
          </c:spPr>
          <c:cat>
            <c:strLit>
              <c:ptCount val="5"/>
              <c:pt idx="0">
                <c:v>小型 ONNX</c:v>
              </c:pt>
              <c:pt idx="1">
                <c:v>PyTorch 动态图</c:v>
              </c:pt>
              <c:pt idx="2">
                <c:v>结构化控制流</c:v>
              </c:pt>
              <c:pt idx="3">
                <c:v>all-MiniLM-L6-v2</c:v>
              </c:pt>
              <c:pt idx="4">
                <c:v>bge-m3</c:v>
              </c:pt>
            </c:strLit>
          </c:cat>
          <c:val>
            <c:numLit>
              <c:formatCode>General</c:formatCode>
              <c:ptCount val="5"/>
              <c:pt idx="0">
                <c:v>100</c:v>
              </c:pt>
              <c:pt idx="1">
                <c:v>63.64</c:v>
              </c:pt>
              <c:pt idx="2">
                <c:v>83.33</c:v>
              </c:pt>
              <c:pt idx="3">
                <c:v>88.06</c:v>
              </c:pt>
              <c:pt idx="4">
                <c:v>86.58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F4F8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B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9CBE0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4D702-F16C-402C-B517-BE4722EB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361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5e072be8848bc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D2E05-3DAE-4116-9948-D6023D0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编译优化层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7F508-8619-4ABC-BB68-793469D0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多框架模型接入与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0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统一 IR 语义规范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5A893-75B7-4B2B-8194-D2EBB73F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FlagTree XPU 阶段进展汇报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FF8EE-CCC9-4C33-9A26-FDAB67A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BE395-285E-4807-B042-430862AC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55500-1F5F-4C8A-B48A-5F8F8F0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A4177-4FC1-45FC-A2EC-50772821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84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4BE7D-6D12-4846-971D-8A38AE67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95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16756-C225-4B1A-8B52-E0A49AEB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24EF8-7C5A-4FF9-A281-749BA3B3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95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TensorFlow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714B6-46CE-45E8-BA17-45304A61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09869-4CDD-4422-9A9F-F52FB99A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Core ATen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63ACC-0B81-4F85-8D91-0044CFD0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958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5BF1B-393F-443E-B0E5-9B3D3816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958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A49EAD-4D9A-4D61-AB40-E3E4EE8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汇报日期：2026年9月22日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D9707-2509-46C2-A306-62F200E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分支：dev/hx  |  最新提交：ccd65da33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CBC4A-B673-4BD4-B09F-D2D9E52A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330B0-53C0-4954-92C8-AC6909D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9459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3FB3E-82FF-4B4C-BE5A-3CC5DDC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923E3-8BC5-4035-8DDE-480003A6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项目总览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881B0-7127-4EBF-8277-9683EF5A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总体进展与模块关系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708A1-5CA9-4708-9B95-11246FED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fb8c9d11d24943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4BFC7-6DA3-470D-90E8-A6D13FE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01EDA-2E41-46DC-A0B0-862AF5FE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B36C3-2B2D-4975-ADAA-CD15946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模块一统一模型形态，模块二检查统一后的语义，FlagTree 继续负责后端编译与 XPU 执行。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D820D-0015-40A6-A995-9B31BA6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72132-E510-43A9-B77A-D0E1D768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32CF0-A201-4830-8BE0-2325070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83A29-068F-4985-BDFB-5B76F8E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6A6EE-3F86-4FA7-BBE3-1E748A37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524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BF3B7-B6A2-4483-BB4B-62A1010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TensorFlow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A7C9-62C8-4EDF-99EC-8A764604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88784-C8E5-4568-8BF3-7895CDA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tf2onnx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2E15C-16B6-4563-8223-64138A8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C4EB8-473C-4FCE-A7D9-6AAB3BB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onnx2torch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9AA4F-5AE8-4DC5-82AB-02E1DE38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180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24D3E-025D-48C9-B1FD-7CFE9F8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动态 Shape 兼容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受控改写与等价核对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BB3F6-492E-4124-BCD4-BF80CEF7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FB7E6-2C77-4E20-89E9-62DCAABE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ExportedProgram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Core ATen / PT2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BD7CD4-BB9C-4442-9EB5-A411EE30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1905000" cy="24288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4C8A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B06C1-AA3F-47A2-9C4F-FB80E3DA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统一 IR 语义契约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9EF3B-3924-4EC9-9C58-E17E44D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0375"/>
            <a:ext cx="1571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90236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39 个算子族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dtype 与类型提升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Shape 与动态维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layout 与 stride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逐算子可执行检查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F7020-1416-4DCC-AF67-94DEB8D7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1F4F8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A01EFB-F227-44EA-AEF6-AE33A497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14625"/>
            <a:ext cx="180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TorchInductor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FlagTree / Triton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XPU</a:t>
            </a:r>
          </a:p>
        </p:txBody>
      </p:sp>
      <p:cxnSp>
        <p:nvCxnSpPr>
          <p:cNvPr id="67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143125" y="29622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143125" y="3914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5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3286125" y="32575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00500" y="2867025"/>
            <a:ext cx="571500" cy="9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143125" y="2009775"/>
            <a:ext cx="2428875" cy="2324100"/>
          </a:xfrm>
          <a:prstGeom xmlns:a="http://schemas.openxmlformats.org/drawingml/2006/main" prst="bentConnector3">
            <a:avLst>
              <a:gd name="adj1" fmla="val 90588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5476875" y="340042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6381750" y="3548063"/>
            <a:ext cx="571500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8858250" y="3524250"/>
            <a:ext cx="7620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4679EF-44EA-47FF-A279-D78AD1D8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896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EB1D19-70F3-47DE-89F5-0A8F9385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525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当前阶段：代表性端到端闭环已建立，规模化模型覆盖与规则完善仍在推进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558272-0E3B-482C-AB5A-168E7458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模块一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368CBC-A5EF-46EC-84FB-0979DE28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2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模块二</a:t>
            </a:r>
          </a:p>
        </p:txBody>
      </p:sp>
    </p:spTree>
    <p:extLst>
      <p:ext uri="{BB962C8B-B14F-4D97-AF65-F5344CB8AC3E}">
        <p14:creationId xmlns:p14="http://schemas.microsoft.com/office/powerpoint/2010/main" val="426960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2E02EC-E0FC-40BB-8292-AA394AA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2C029-4607-4640-850C-19694414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功能模块一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FC84A-E85F-4085-BCE7-035C9CC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多框架接入与统一 Core ATen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5E40-2ABF-423D-81D2-52402A8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d9d39128944a4a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BCB0C-5B7D-4048-80C0-DB346324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9F529-44EE-4C5E-AED9-5B793433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DBD4C-1C87-41FF-AEB2-EF81489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目标：保留模型结构、类型、Shape 与控制流，并形成可保存、可回读、可数值核对的统一产物。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86A6F-BC5D-496A-979E-5BDE4B58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66687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AB25E-AE69-4284-A601-038BD30A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DD37E-2916-45F4-B572-3107AC18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233362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89F82-07AA-497A-B3EA-83BE281D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torch.export</a:t>
            </a:r>
          </a:p>
        </p:txBody>
      </p:sp>
      <p:cxnSp>
        <p:nvCxnSpPr>
          <p:cNvPr id="49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86000" y="20193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D8F94-3ADE-42C5-953A-FEE86386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66687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62C00-8F10-47C0-9F33-551A12C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ONNX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F1189-9295-4B0B-926E-318578C4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05100"/>
            <a:ext cx="233362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BD9CC-E96C-42ED-BFD4-119B5410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0510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onnx2torch</a:t>
            </a:r>
          </a:p>
        </p:txBody>
      </p: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286000" y="30099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0B45A-FA02-4DEE-B4B7-D006FA6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166687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4C8A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E9E56-4464-494C-8CB6-2FBBA7BB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1666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TensorFlow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A6B78-C65F-4DB6-9169-C45A0C87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95700"/>
            <a:ext cx="2333625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A2A29-5650-41D8-9A68-92BAA2B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9570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tf2onnx + onnx2torch</a:t>
            </a:r>
          </a:p>
        </p:txBody>
      </p: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286000" y="4000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AFCEB-05E4-40BE-9402-CD5F715A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66900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061F8-36A9-4088-888F-EBD244A5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统一模型产物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4F8F4B-B171-455A-B68B-2DF73C89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95300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model.core_aten.pt2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manifest.json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validation.json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graph.readable.txt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500"/>
              </a:spcAft>
              <a:buNone/>
              <a:def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example_inputs.npz</a:t>
            </a:r>
          </a:p>
        </p:txBody>
      </p:sp>
      <p:cxnSp>
        <p:nvCxnSpPr>
          <p:cNvPr id="63" name=""/>
          <p:cNvCxnSpPr>
            <a:stCxn xmlns:a="http://schemas.openxmlformats.org/drawingml/2006/main" id="1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048250" y="2019300"/>
            <a:ext cx="3048000" cy="1014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048250" y="3009900"/>
            <a:ext cx="3048000" cy="23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048250" y="3033713"/>
            <a:ext cx="3048000" cy="966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51ED0-87C3-4E55-9DD8-D56536F74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0896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6DDAF-FC4C-464D-88BF-613DD47F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已验证能力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03E066-532D-4514-9BB3-A8E4370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053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rPr>
              <a:t>动态 batch /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8CA18-42CC-4FD7-9BA0-F4C417D2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053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rPr>
              <a:t>If / Loop / Scan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0DF07E-C910-484F-8FFB-A8AD3CA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05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rPr>
              <a:t>CPU 与 XPU 核对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44E66-4D0B-4B15-86C0-6B93A9D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053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5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E07A"/>
                </a:solidFill>
                <a:latin typeface="Microsoft YaHei"/>
                <a:ea typeface="Microsoft YaHei"/>
                <a:cs typeface="Microsoft YaHei"/>
              </a:rPr>
              <a:t>同一 PT2 跨多组 Shape 复用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ACB16A-1EBA-4AEC-B208-DD76146B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最新模型接入完整回归：24 passed</a:t>
            </a:r>
          </a:p>
        </p:txBody>
      </p:sp>
    </p:spTree>
    <p:extLst>
      <p:ext uri="{BB962C8B-B14F-4D97-AF65-F5344CB8AC3E}">
        <p14:creationId xmlns:p14="http://schemas.microsoft.com/office/powerpoint/2010/main" val="1070923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ACFD3A-DC82-4366-A1F1-ECE19EC7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4BFC-E9E3-4C12-A07D-B1BEA5B4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功能模块一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96D90-5858-4781-8C0D-9A89321D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动态 Shape 与控制流验证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1F0A0-450E-4258-8D23-B253AAA4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8689c34eb4b69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E9AE6-AD48-4ECE-A868-12206FCB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6C558-9910-4F1F-9ED7-7884BDF5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9D25D-07E5-42C9-92B2-04A4CAF2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关键变化：Shape Tensor 改写为 tuple / SymInt，控制流保留为结构化高阶算子。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B7A2D1-4268-470D-93CA-4C5C81E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095875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9525">
            <a:solidFill>
              <a:srgbClr val="E8A1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37896-86FF-4CA6-A54C-A8CDEC5F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转换器原始表达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41EBD-6484-4A4A-B75B-3E19139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Shape(x) → Tensor([B,S])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Gather(shape, 0) → Tensor(B)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Reshape(x, shape_tensor)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81AE2-B079-400F-81CF-53B206F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5095875" cy="1381125"/>
          </a:xfrm>
          <a:prstGeom xmlns:a="http://schemas.openxmlformats.org/drawingml/2006/main" prst="roundRect">
            <a:avLst>
              <a:gd name="adj" fmla="val 4828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83AD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DD47B-803F-4475-A82E-849D9C6D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1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当前符号表达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8F559-AD51-4B71-AE95-5D74A2E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x.shape → (SymInt B, SymInt S)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getitem(shape, 0) → B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reshape(x, symbolic_tuple)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552450" y="3314700"/>
          <a:ext xmlns:a="http://schemas.openxmlformats.org/drawingml/2006/main" cx="1073467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5546"/>
                <a:gridCol w="3471093"/>
                <a:gridCol w="3213975"/>
                <a:gridCol w="2314062"/>
              </a:tblGrid>
              <a:tr h="304800">
                <a:tc>
                  <a:txBody>
                    <a:bodyPr/>
                    <a:lstStyle/>
                    <a:p>
                      <a:r>
                        <a:t>验证对象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统一产物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XPU 验证方式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ONNX DistilBERT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单一动态 PT2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 组 Shape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XPU 误差 ≤ 8.85e-6</a:t>
                      </a:r>
                    </a:p>
                  </a:txBody>
                  <a:tcPr marL="91440" marR="91440" marT="45720" marB="45720" anchor="ctr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TensorFlow DistilBERT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tf2onnx 后进入同一路径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 组 Shape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 ≤ 1.53e-5</a:t>
                      </a:r>
                    </a:p>
                  </a:txBody>
                  <a:tcPr marL="91440" marR="91440" marT="45720" marB="45720" anchor="ctr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ONNX If / Loop /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结构化高阶算子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 组 fullgraph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 0</a:t>
                      </a:r>
                    </a:p>
                  </a:txBody>
                  <a:tcPr marL="91440" marR="91440" marT="45720" marB="45720" anchor="ctr"/>
                </a:tc>
              </a:tr>
              <a:tr h="361950">
                <a:tc>
                  <a:txBody>
                    <a:bodyPr/>
                    <a:lstStyle/>
                    <a:p>
                      <a:r>
                        <a:t>EmbeddingGemma-300M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动态 Core ATen / PT2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STS12：3,108 对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0.00007697%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75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7C428-8468-42B6-A5C6-96344EC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D216F-7617-4906-A822-27A5CD4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功能模块二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1714A-9487-41E7-8D73-D72F9947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统一 IR 语义契约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7D870-F7F4-4CF0-9176-83FC3AD9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d4a4d8cfe46e3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8B22C-FE1D-469B-AD1D-F6533F4A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7674B-29A3-4929-8B6D-B7F015F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C3991-4A3D-4191-8EA7-D5F08EB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目标：把“图能转换”升级为“算子、dtype、Shape 与 layout 的含义可检查”。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9B78E-A8F8-410A-8B62-5420F70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714500" cy="71437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12877-359F-4CC9-97D3-E49AEA7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Core ATen 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AF5AA-DCE5-495E-A74E-CAC3A570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714500" cy="714375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19600-D386-4A4C-BA21-593A1E74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manifest.json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91117-1793-4557-B378-93335D7F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2000250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3F318-EDE9-4703-A838-A8DB7BA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200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契约提取器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跨框架映射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operator_instances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8E238-03F7-4429-9AC1-5354E1D3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20002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25068-E0BA-4252-931E-4E28165B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版本化注册表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39 个算子族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0294F-BE49-4D58-8367-3767C9A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33550"/>
            <a:ext cx="2428875" cy="295275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4C8A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B1EE7C-6C3A-4AE5-A084-B0EF5B03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逐算子规则引擎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BEF36-FCFE-468B-8708-0AA9E544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9526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94592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dtype 与类型提升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广播、matmul 与归约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layout / stride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关键参数（dim / keepdim）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800"/>
              </a:spcAft>
              <a:buNone/>
              <a:def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符号关系能证明才通过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179EE-153C-44E0-9F62-7FB953D6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3336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4C8A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47B7D-57B9-4E60-86F1-CB741634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B0173-18E7-44BE-98C4-AC92D8DD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3336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A3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60781-6A05-43A7-9942-AD64B452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9A6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9A6500"/>
                </a:solidFill>
                <a:latin typeface="Microsoft YaHei"/>
                <a:ea typeface="Microsoft YaHei"/>
                <a:cs typeface="Microsoft YaHei"/>
              </a:rPr>
              <a:t>insufficient metadata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84CE6C-A3A4-42E9-98AB-C4D9A91F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23336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B0A29-E995-4C67-8376-A4C83D4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8612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not implemented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4EDA20-AC9D-498D-8E50-9E1B09E9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43375"/>
            <a:ext cx="23336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9525">
            <a:solidFill>
              <a:srgbClr val="F05A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29234-B248-400D-AA20-F75E482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43375"/>
            <a:ext cx="2333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failed：阻断导出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333625" y="2166938"/>
            <a:ext cx="66675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333625" y="2809875"/>
            <a:ext cx="66675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000625" y="3209925"/>
            <a:ext cx="714375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000625" y="2809875"/>
            <a:ext cx="71437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143875" y="1895475"/>
            <a:ext cx="666750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8143875" y="2752725"/>
            <a:ext cx="6667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143875" y="3209925"/>
            <a:ext cx="66675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7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8143875" y="3209925"/>
            <a:ext cx="66675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B84C4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512CFD-0E30-420B-98F3-3433A65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15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7D830-2011-404A-B019-533B154A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40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每次导出同时生成 semantics.json，规则失败会阻止错误语义进入 XPU</a:t>
            </a:r>
          </a:p>
        </p:txBody>
      </p:sp>
    </p:spTree>
    <p:extLst>
      <p:ext uri="{BB962C8B-B14F-4D97-AF65-F5344CB8AC3E}">
        <p14:creationId xmlns:p14="http://schemas.microsoft.com/office/powerpoint/2010/main" val="770698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8F292-D571-4DA2-86A9-64F4607B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4260A-65ED-4C03-B49A-5F32137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功能模块二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1F52F-B8D4-4A5B-9F7D-7070D5B3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可执行语义规则进展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201D1-BA91-433A-BFF2-C192C59B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c5b30c2304f7b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3E55-26DD-453E-B4F0-05117273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993BF-C359-4E88-B52F-0164E318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64EE9-AD25-49C0-8185-9888A87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真实执行比例只统计已经运行检查器的规则，未实现和元数据不足不会被计入通过。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552450" y="1619250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460135af254f9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E4639-8547-4E0C-BDB6-626D951E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333750" cy="37147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CC6B6-9EF9-4A41-8919-744353E5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2880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1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0BE2D6-9D39-49BD-A4EA-7E9B0FE4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1,445 / 1,641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DA5D3-12EC-4016-9321-82FDE22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MiniLM 规则实际执行并通过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A5473-79B0-4C67-B87B-77AA944E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7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4,917 / 5,679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2778C-8C9E-400C-8F16-45AF64E5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528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bge-m3 规则实际执行并通过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AC271-11CC-4FD9-B1F5-8ADFE74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0 条规则失败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59A8A-D8BB-4B01-8784-8114C37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3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剩余缺口集中在符号 reshape、矩阵逻辑轴 layout 与运行时 Shape 元数据。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2B614-51D9-4447-A0B8-9F494351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注：图表数值为百分比，100 表示 100%。</a:t>
            </a:r>
          </a:p>
        </p:txBody>
      </p:sp>
    </p:spTree>
    <p:extLst>
      <p:ext uri="{BB962C8B-B14F-4D97-AF65-F5344CB8AC3E}">
        <p14:creationId xmlns:p14="http://schemas.microsoft.com/office/powerpoint/2010/main" val="1713268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0D9C3-97E4-4635-9B12-24A91F58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CF766-0A89-418A-B11E-AC0387AC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验证证据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FAA40-FB79-4938-AFD4-562D4F7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代表性模型与 XPU 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2C699-59D2-4BA7-8C37-D9924F2D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80f8cbcd44233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1DB7-355F-47D4-8CD1-DC5C0DDD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191CD-70AE-411E-B692-7DADB604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31ECC-59A6-48D9-8059-69437B94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覆盖中型分类模型、Embedding 模型与结构化控制流，结果均保留机器可检查报告。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52450" y="1600200"/>
          <a:ext xmlns:a="http://schemas.openxmlformats.org/drawingml/2006/main" cx="1073467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50219"/>
                <a:gridCol w="1633538"/>
                <a:gridCol w="2566988"/>
                <a:gridCol w="3033713"/>
                <a:gridCol w="1750219"/>
              </a:tblGrid>
              <a:tr h="333375">
                <a:tc>
                  <a:txBody>
                    <a:bodyPr/>
                    <a:lstStyle/>
                    <a:p>
                      <a:r>
                        <a:t>对象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来源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动态范围 / 规模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关键结果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阶段结论</a:t>
                      </a:r>
                    </a:p>
                  </a:txBody>
                  <a:tcPr marL="91440" marR="91440" marT="45720" marB="45720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t>DistilBERT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1×2、2×4、3×7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同一 PT2；XPU 误差 ≤ 8.85e-6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t>DistilBERT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TensorFlow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tf2onnx 后同一路径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同一 PT2；误差 ≤ 1.53e-5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</a:t>
                      </a:r>
                    </a:p>
                  </a:txBody>
                  <a:tcPr marL="91440" marR="91440" marT="45720" marB="45720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t>EmbeddingGemma-300M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STS12 3,108 对文本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0.79340145 vs 0.79340084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相对差 0.00007697%</a:t>
                      </a:r>
                    </a:p>
                  </a:txBody>
                  <a:tcPr marL="91440" marR="91440" marT="45720" marB="45720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t>all-MiniLM-L6-v2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547 个 Core ATen 实例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规则 88.06%；XPU 误差 ≤ 5.72e-6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failed</a:t>
                      </a:r>
                    </a:p>
                  </a:txBody>
                  <a:tcPr marL="91440" marR="91440" marT="45720" marB="45720" anchor="ctr"/>
                </a:tc>
              </a:tr>
              <a:tr h="447675">
                <a:tc>
                  <a:txBody>
                    <a:bodyPr/>
                    <a:lstStyle/>
                    <a:p>
                      <a:r>
                        <a:t>BAAI/bge-m3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ONNX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1,893 个 Core ATen 实例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规则 86.58%；全图编译通过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4C8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failed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8548B-C175-4807-B048-F0CD8702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模型接入回归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DFE91-5354-47C4-84F0-F3BCF561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24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533D3-E530-4074-9777-D81AB336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语义专项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0E792-C51F-441E-AC12-21776117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19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15 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D1AB2-9590-4C63-89B5-D36C70C4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控制流 XPU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3429BF-06EB-446E-BAC8-41CE677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19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8 组通过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A9329-2AF2-4B72-8A69-18E0F77D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小图 CPU/XPU 误差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5186A-C34B-4033-BEAA-708CFB90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19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73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200799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76B3A-06DE-4F20-9DBC-BF0E705E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24E26-6B86-4D04-B108-4EB3A00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阶段判断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409C7-E535-4081-ADDA-4DC5E7BD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当前边界与未完成项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696C-03DF-49EA-8D1B-C3C7628A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7f50ee9f048ba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4608F-5B43-4AC6-81FF-0968C85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5ADCA-D4F7-4D92-950C-9353EB14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8F3A0-8A39-4494-A4E9-61B80EA7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代表性闭环已经建立，项目整体仍处于规模化验证和工程完善阶段。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40908-FCBC-487E-AA4A-4E9C5070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5095875" cy="314325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E7F2E2"/>
          </a:solidFill>
          <a:ln xmlns:a="http://schemas.openxmlformats.org/drawingml/2006/main" w="9525">
            <a:solidFill>
              <a:srgbClr val="87B0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6EC79-3B64-45B0-A8F6-92C26812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4C8A35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C2ADD-1ED2-493A-8BEF-40C02573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三种入口汇入同一 Core ATen / PT2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动态 batch / sequence 和控制流有 XPU 结果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语义契约随产物落盘，失败会阻断导出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当前样本中 39 / 39 种 ONNX 算子已登记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两类真实模型规则执行比例达到 86% 以上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529A9-6A48-4B39-A91F-92972F2D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095875" cy="3143250"/>
          </a:xfrm>
          <a:prstGeom xmlns:a="http://schemas.openxmlformats.org/drawingml/2006/main" prst="roundRect">
            <a:avLst>
              <a:gd name="adj" fmla="val 1515"/>
            </a:avLst>
          </a:prstGeom>
          <a:solidFill xmlns:a="http://schemas.openxmlformats.org/drawingml/2006/main">
            <a:srgbClr val="FCE9E4"/>
          </a:solidFill>
          <a:ln xmlns:a="http://schemas.openxmlformats.org/drawingml/2006/main" w="9525">
            <a:solidFill>
              <a:srgbClr val="E69A7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EE4B9-6EF8-482D-A685-BA31962A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仍需推进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2F90C-AABD-4EFA-AC65-269FA25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尚未取得并扫描完整 250 / 500 模型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符号 reshape 元素数量证明仍是主要缺口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矩阵 layout 和运行时 Shape 元数据待补齐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CNN、检测、生成式模型与长序列覆盖不足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900"/>
              </a:spcAft>
              <a:buNone/>
              <a:def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PyTorch 2.5 / 2.9 PT2 兼容策略待统一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38916-2867-421A-8BFF-96C0AD5E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4765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A4256-1802-4FBF-8D6B-AABC0AA3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语义覆盖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0C30F-ECB7-4A3D-B26F-54673A3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算子规则是否定义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DF351-6CC3-4A40-B23D-FFA0C105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62550"/>
            <a:ext cx="24765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54431-F286-464D-A6C6-4927B32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197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转换覆盖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5F754-6EBE-405B-9B1E-EDDD134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50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前端能否转为 Core ATen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FB2BD-4BCF-428E-AECE-7FFCD3E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62550"/>
            <a:ext cx="24765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5B067-B76D-47EE-9FF3-C3DC1391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导出覆盖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64CFF-A3F5-4F73-9FE4-CFA451DE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0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动态图能否保存回读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C572A-C9FA-4E3A-9827-750D79C7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162550"/>
            <a:ext cx="247650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EEB7B-8C9C-4079-A44E-053CA9C5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2197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执行覆盖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DEA7FC-74A8-4E71-B21B-66F41CD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05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XPU 正确性与性能</a:t>
            </a:r>
          </a:p>
        </p:txBody>
      </p:sp>
    </p:spTree>
    <p:extLst>
      <p:ext uri="{BB962C8B-B14F-4D97-AF65-F5344CB8AC3E}">
        <p14:creationId xmlns:p14="http://schemas.microsoft.com/office/powerpoint/2010/main" val="769004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C0471A-E4F0-49E2-AD8F-19813622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F111C-5A89-4862-B7E6-0787F1F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31339-1806-43AE-84F7-88AE87B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下一阶段推进计划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C8BCD-0D58-47B0-80CF-0CC920C6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36b7668184153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743A9-863E-418B-B06A-7A8F910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798D1-C312-4C20-A2A0-4E2850AD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C3588-707F-4925-B208-B19E32C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下一阶段从“跑通更多样例”转向“按失败层级统计并批量消除高频缺口”。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90FEC-F001-4E07-808C-0E343066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38125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4F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336D9-0760-45A5-A5B0-7F1278E8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B8578-92CB-4262-8A1E-6229472C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AE2C9-5F1A-46A9-97E1-C60AFF30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573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补齐高频规则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30166-E141-48D7-989E-90D6762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符号 reshape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矩阵逻辑轴 layout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运行时 Shape 元数据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27E24-88BB-42A9-9894-AC5CADD0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5858E-5F4C-4FDA-BB0E-950D3222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D8F2B-FC9C-4A34-B01A-5C17AFB6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57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3ECFC-FB3B-4E1A-B47B-FE60F3C5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937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批量审计 250 / 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3D4C9-5DDA-4DCD-A03F-A61BF456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语义、转换、导出、XPU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四类指标分别统计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2DA49-5B94-4BB5-8FB1-9CDF3D3A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38125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C8A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81C1F-3782-455B-84FA-1A3BE949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CBFD9-5E3E-4CA7-85BE-8B6FFFC4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57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D6232-20B3-468F-BAF7-E6BAB7AB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573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扩展模型类型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5B036F-5D8C-468B-B63D-C4AC6345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CNN、检测、生成式模型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更长 sequence 与复杂 Slice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76E54-B89E-4B5D-8C77-E7927D85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2381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5A3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C619C6-70C2-48B3-B342-2D066D19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097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4F732-DE78-4C3D-943B-A828272F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5737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1191-DEAD-4AFC-9223-A3C22CD9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57375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性能与版本工程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7B52F-2DED-4FFF-9DC8-69CFC15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24125"/>
            <a:ext cx="2038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定位 20 分钟级编译慢点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建立 PT2 版本策略</a:t>
            </a:r>
          </a:p>
        </p:txBody>
      </p:sp>
      <p:cxnSp>
        <p:nvCxnSpPr>
          <p:cNvPr id="63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527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CBE0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4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7340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CBE0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515350" y="30003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CBE0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E1744-2BBE-4CBF-B722-33BEA527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10858500" cy="120015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D2C628-B61E-4014-A316-3349788C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批量推进的统一输出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16236F-78CD-44DE-B66E-F9A54F8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每个模型形成同一份状态记录：语义注册 → 转换 → Core ATen 导出 → XPU 正确性 → 精度与编译时间</a:t>
            </a:r>
          </a:p>
        </p:txBody>
      </p:sp>
    </p:spTree>
    <p:extLst>
      <p:ext uri="{BB962C8B-B14F-4D97-AF65-F5344CB8AC3E}">
        <p14:creationId xmlns:p14="http://schemas.microsoft.com/office/powerpoint/2010/main" val="2235434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A60E-C1CD-446B-A8A4-84289205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"/>
            <a:ext cx="352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02155-5FF3-4A46-B5EB-BDFB8FFD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72BC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AF2DC-6BCD-4CD9-8A98-5F8662E9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阶段结论与项目协同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77B49-68BC-46FD-92F8-867B6C07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04875"/>
            <a:ext cx="11315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f95b99abf420c"/>
          <a:stretch xmlns:a="http://schemas.openxmlformats.org/drawingml/2006/main"/>
        </p:blipFill>
        <p:spPr>
          <a:xfrm xmlns:a="http://schemas.openxmlformats.org/drawingml/2006/main">
            <a:off x="9957329" y="219075"/>
            <a:ext cx="1849967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5C0BC-02C5-44D4-AF3C-F19D0A7F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05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B8E92"/>
                </a:solidFill>
                <a:latin typeface="Microsoft YaHei"/>
                <a:ea typeface="Microsoft YaHei"/>
                <a:cs typeface="Microsoft YaHei"/>
              </a:rPr>
              <a:t>BAAI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936E1-F458-426E-807D-5AB53012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C98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763B7-DA99-4F1F-98BE-420093CA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476875" cy="352425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E7F0FA"/>
          </a:solidFill>
          <a:ln xmlns:a="http://schemas.openxmlformats.org/drawingml/2006/main" w="9525">
            <a:solidFill>
              <a:srgbClr val="4B84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D66ED-EFDB-4A8E-B672-D2A273D4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92103-BF5F-480E-933F-D6B81DB3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BC02BF-2EED-486C-9CD3-174EDB90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241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65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三框架到 Core ATen 的代表性闭环已经建立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95A90-7BE0-4068-85C6-D18870D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5448B-566A-4E52-99AA-A62CCD11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24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50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语义契约已经从规范文档发展为可执行质量门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8216-7DE1-4F27-A158-D5F67FC7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0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74FA6-93A3-4328-8986-C44017B5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93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下一阶段重点是完整模型集的分层统计和缺口补齐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AEF53-34AA-4AA5-8BF1-33F422B2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4857750" cy="3524250"/>
          </a:xfrm>
          <a:prstGeom xmlns:a="http://schemas.openxmlformats.org/drawingml/2006/main" prst="roundRect">
            <a:avLst>
              <a:gd name="adj" fmla="val 13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B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6BB45-E6AA-4D0C-870C-B6D02EA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5735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F4F8F"/>
                </a:solidFill>
                <a:latin typeface="Microsoft YaHei"/>
                <a:ea typeface="Microsoft YaHei"/>
                <a:cs typeface="Microsoft YaHei"/>
              </a:rPr>
              <a:t>建议项目方协同确认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C2530-F3EB-417A-9CB8-CDE05D0C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4048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28575" rIns="38100" bIns="28575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完整 250 / 500 模型清单及匹配权重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优先模型、动态 Shape 范围和精度门限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统一的 PyTorch / PT2 / XPU 运行版本</a:t>
            </a:r>
          </a:p>
          <a:p xmlns:a="http://schemas.openxmlformats.org/drawingml/2006/main">
            <a:pPr marL="254000" indent="-114300">
              <a:lnSpc>
                <a:spcPct val="108000"/>
              </a:lnSpc>
              <a:spcAft>
                <a:spcPts val="1300"/>
              </a:spcAft>
              <a:buNone/>
              <a:def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7243A"/>
                </a:solidFill>
                <a:latin typeface="Microsoft YaHei"/>
                <a:ea typeface="Microsoft YaHei"/>
                <a:cs typeface="Microsoft YaHei"/>
              </a:rPr>
              <a:t>性能指标的统计口径和验收顺序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404CD-BA81-478B-9AE4-01A38F0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34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5F378-55B4-457A-9914-EF0C17E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42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当前进展：链路已打通，规模化验证正在推进，整体尚未达到 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472CF-48DC-4D75-A504-D76D2EC4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87"/>
                </a:solidFill>
                <a:latin typeface="Microsoft YaHei"/>
                <a:ea typeface="Microsoft YaHei"/>
                <a:cs typeface="Microsoft YaHei"/>
              </a:rPr>
              <a:t>代码：github.com/Xproject-CHKU-SZ/FlagTree  ·  dev/hx  ·  ccd65da33</a:t>
            </a:r>
          </a:p>
        </p:txBody>
      </p:sp>
    </p:spTree>
    <p:extLst>
      <p:ext uri="{BB962C8B-B14F-4D97-AF65-F5344CB8AC3E}">
        <p14:creationId xmlns:p14="http://schemas.microsoft.com/office/powerpoint/2010/main" val="21109887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2026-09-22T06:54:31.6700000Z</dcterms:created>
  <dcterms:modified xsi:type="dcterms:W3CDTF">2026-09-22T06:54:31.6700000Z</dcterms:modified>
</coreProperties>
</file>