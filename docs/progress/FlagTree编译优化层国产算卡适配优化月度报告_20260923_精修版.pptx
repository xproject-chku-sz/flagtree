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932ad7d19e475b" /><Relationship Type="http://schemas.openxmlformats.org/officeDocument/2006/relationships/extended-properties" Target="/docProps/app.xml" Id="R7ffc0ace1d0f4e0f" /><Relationship Type="http://schemas.openxmlformats.org/officeDocument/2006/relationships/officeDocument" Target="/ppt/presentation.xml" Id="R1fba4a77d16044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796ac649f44246"/>
  </p:sldMasterIdLst>
  <p:notesMasterIdLst>
    <p:notesMasterId xmlns:r="http://schemas.openxmlformats.org/officeDocument/2006/relationships" r:id="Rc6599fbdc0e94999"/>
  </p:notesMasterIdLst>
  <p:sldIdLst>
    <p:sldId xmlns:r="http://schemas.openxmlformats.org/officeDocument/2006/relationships" id="256" r:id="R56c76d44ddcf4e21"/>
    <p:sldId xmlns:r="http://schemas.openxmlformats.org/officeDocument/2006/relationships" id="257" r:id="R666b6aa0db904686"/>
    <p:sldId xmlns:r="http://schemas.openxmlformats.org/officeDocument/2006/relationships" id="258" r:id="Re3281a11af2f4562"/>
    <p:sldId xmlns:r="http://schemas.openxmlformats.org/officeDocument/2006/relationships" id="259" r:id="R49e755f954f74cf1"/>
    <p:sldId xmlns:r="http://schemas.openxmlformats.org/officeDocument/2006/relationships" id="260" r:id="Rae121e7b0e8f4624"/>
    <p:sldId xmlns:r="http://schemas.openxmlformats.org/officeDocument/2006/relationships" id="261" r:id="R9f252ee06d5c42ee"/>
    <p:sldId xmlns:r="http://schemas.openxmlformats.org/officeDocument/2006/relationships" id="262" r:id="R72ae4167b34444c8"/>
    <p:sldId xmlns:r="http://schemas.openxmlformats.org/officeDocument/2006/relationships" id="263" r:id="R64c7420b87ce48a1"/>
    <p:sldId xmlns:r="http://schemas.openxmlformats.org/officeDocument/2006/relationships" id="264" r:id="Rbf85c447c63249ff"/>
    <p:sldId xmlns:r="http://schemas.openxmlformats.org/officeDocument/2006/relationships" id="265" r:id="Ra2bb694c3cc74144"/>
    <p:sldId xmlns:r="http://schemas.openxmlformats.org/officeDocument/2006/relationships" id="266" r:id="R75978925a47a4ee3"/>
    <p:sldId xmlns:r="http://schemas.openxmlformats.org/officeDocument/2006/relationships" id="267" r:id="R5f117f4778c54ac4"/>
    <p:sldId xmlns:r="http://schemas.openxmlformats.org/officeDocument/2006/relationships" id="268" r:id="Rc10484e168fe459d"/>
    <p:sldId xmlns:r="http://schemas.openxmlformats.org/officeDocument/2006/relationships" id="269" r:id="Rbef0d6cd91274c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0d7b489d764800" /><Relationship Type="http://schemas.openxmlformats.org/officeDocument/2006/relationships/slideMaster" Target="/ppt/slideMasters/slideMaster1.xml" Id="R81796ac649f44246" /><Relationship Type="http://schemas.openxmlformats.org/officeDocument/2006/relationships/notesMaster" Target="/ppt/notesMasters/notesMaster1.xml" Id="Rc6599fbdc0e94999" /><Relationship Type="http://schemas.openxmlformats.org/officeDocument/2006/relationships/presProps" Target="/ppt/presProps.xml" Id="Rda25723e214348f8" /><Relationship Type="http://schemas.openxmlformats.org/officeDocument/2006/relationships/tableStyles" Target="/ppt/tableStyles.xml" Id="Rae65042cae494230" /><Relationship Type="http://schemas.openxmlformats.org/officeDocument/2006/relationships/slide" Target="/ppt/slides/slide1.xml" Id="R56c76d44ddcf4e21" /><Relationship Type="http://schemas.openxmlformats.org/officeDocument/2006/relationships/slide" Target="/ppt/slides/slide2.xml" Id="R666b6aa0db904686" /><Relationship Type="http://schemas.openxmlformats.org/officeDocument/2006/relationships/slide" Target="/ppt/slides/slide3.xml" Id="Re3281a11af2f4562" /><Relationship Type="http://schemas.openxmlformats.org/officeDocument/2006/relationships/slide" Target="/ppt/slides/slide4.xml" Id="R49e755f954f74cf1" /><Relationship Type="http://schemas.openxmlformats.org/officeDocument/2006/relationships/slide" Target="/ppt/slides/slide5.xml" Id="Rae121e7b0e8f4624" /><Relationship Type="http://schemas.openxmlformats.org/officeDocument/2006/relationships/slide" Target="/ppt/slides/slide6.xml" Id="R9f252ee06d5c42ee" /><Relationship Type="http://schemas.openxmlformats.org/officeDocument/2006/relationships/slide" Target="/ppt/slides/slide7.xml" Id="R72ae4167b34444c8" /><Relationship Type="http://schemas.openxmlformats.org/officeDocument/2006/relationships/slide" Target="/ppt/slides/slide8.xml" Id="R64c7420b87ce48a1" /><Relationship Type="http://schemas.openxmlformats.org/officeDocument/2006/relationships/slide" Target="/ppt/slides/slide9.xml" Id="Rbf85c447c63249ff" /><Relationship Type="http://schemas.openxmlformats.org/officeDocument/2006/relationships/slide" Target="/ppt/slides/slide10.xml" Id="Ra2bb694c3cc74144" /><Relationship Type="http://schemas.openxmlformats.org/officeDocument/2006/relationships/slide" Target="/ppt/slides/slide11.xml" Id="R75978925a47a4ee3" /><Relationship Type="http://schemas.openxmlformats.org/officeDocument/2006/relationships/slide" Target="/ppt/slides/slide12.xml" Id="R5f117f4778c54ac4" /><Relationship Type="http://schemas.openxmlformats.org/officeDocument/2006/relationships/slide" Target="/ppt/slides/slide13.xml" Id="Rc10484e168fe459d" /><Relationship Type="http://schemas.openxmlformats.org/officeDocument/2006/relationships/slide" Target="/ppt/slides/slide14.xml" Id="Rbef0d6cd91274c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4de81f65cb4e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c7434ef8ed43fd" /><Relationship Type="http://schemas.openxmlformats.org/officeDocument/2006/relationships/notesMaster" Target="/ppt/notesMasters/notesMaster1.xml" Id="R73f4484f758949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6ce00e69ca410b" /><Relationship Type="http://schemas.openxmlformats.org/officeDocument/2006/relationships/notesMaster" Target="/ppt/notesMasters/notesMaster1.xml" Id="Rcc6e13f9c4fd48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acc5e8579f44d5" /><Relationship Type="http://schemas.openxmlformats.org/officeDocument/2006/relationships/notesMaster" Target="/ppt/notesMasters/notesMaster1.xml" Id="Rb48ea3c8101f49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7d6823e9ff40e0" /><Relationship Type="http://schemas.openxmlformats.org/officeDocument/2006/relationships/notesMaster" Target="/ppt/notesMasters/notesMaster1.xml" Id="R2b60caab30674f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bee63fe4cf468f" /><Relationship Type="http://schemas.openxmlformats.org/officeDocument/2006/relationships/notesMaster" Target="/ppt/notesMasters/notesMaster1.xml" Id="R10fb9155006b4c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6f156f98f94bf9" /><Relationship Type="http://schemas.openxmlformats.org/officeDocument/2006/relationships/notesMaster" Target="/ppt/notesMasters/notesMaster1.xml" Id="R96678ba747ed4f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cad1d70b224573" /><Relationship Type="http://schemas.openxmlformats.org/officeDocument/2006/relationships/notesMaster" Target="/ppt/notesMasters/notesMaster1.xml" Id="R88e99cfa78ba4b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06d27135454b09" /><Relationship Type="http://schemas.openxmlformats.org/officeDocument/2006/relationships/notesMaster" Target="/ppt/notesMasters/notesMaster1.xml" Id="R0645fdee5f1948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086c4ab72f48e3" /><Relationship Type="http://schemas.openxmlformats.org/officeDocument/2006/relationships/notesMaster" Target="/ppt/notesMasters/notesMaster1.xml" Id="R404ad21c718546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ebb3b963154f09" /><Relationship Type="http://schemas.openxmlformats.org/officeDocument/2006/relationships/notesMaster" Target="/ppt/notesMasters/notesMaster1.xml" Id="R4d7ab41196234a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bf88f160e8438d" /><Relationship Type="http://schemas.openxmlformats.org/officeDocument/2006/relationships/notesMaster" Target="/ppt/notesMasters/notesMaster1.xml" Id="R1e87743d790f48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01d64b5bc449fc" /><Relationship Type="http://schemas.openxmlformats.org/officeDocument/2006/relationships/notesMaster" Target="/ppt/notesMasters/notesMaster1.xml" Id="R62154f66e8704d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d11b14681a49a7" /><Relationship Type="http://schemas.openxmlformats.org/officeDocument/2006/relationships/notesMaster" Target="/ppt/notesMasters/notesMaster1.xml" Id="Rf865ce3dff9349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acf918fec149e9" /><Relationship Type="http://schemas.openxmlformats.org/officeDocument/2006/relationships/notesMaster" Target="/ppt/notesMasters/notesMaster1.xml" Id="Rf1f359f6e4c04c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FlagTree前两个功能模块阶段成果汇报_20260922.html；多框架接入与统一IR语义规范阶段进展_20260922_提交版.pptx；编译优化层阶段工作总结_20260923.md；F08-G01_两周工作汇报_20260923.docx；郑凯文_近期工作汇报_20260923.md；python/setup_tools/utils/tools.py；python/setup_tools/utils/cambricon.py</a:t>
            </a:r>
          </a:p>
          <a:p xmlns:a="http://schemas.openxmlformats.org/drawingml/2006/main">
            <a:r>
              <a:t>汇报说明：报告汇总当前项目材料。各平台采用各自测试范围，不能进行性能排名或折算整体完成率。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FlagTree前两个功能模块阶段成果汇报_20260922.html；多框架接入与统一IR语义规范阶段进展_20260922_提交版.pptx；编译优化层阶段工作总结_20260923.md；F08-G01_两周工作汇报_20260923.docx；郑凯文_近期工作汇报_20260923.md；python/setup_tools/utils/tools.py；python/setup_tools/utils/cambricon.py</a:t>
            </a:r>
          </a:p>
          <a:p xmlns:a="http://schemas.openxmlformats.org/drawingml/2006/main">
            <a:r>
              <a:t>汇报说明：本页只汇总材料可支持的证据。没有提供记录不等于厂商或开源项目没有相应能力。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资料来源：郑凯文_近期工作汇报_20260923.md；FlagTree前两个功能模块阶段成果汇报_20260922.html；多框架接入与统一IR语义规范阶段进展_20260922_提交版.pptx</a:t>
            </a:r>
          </a:p>
          <a:p xmlns:a="http://schemas.openxmlformats.org/drawingml/2006/main">
            <a:r>
              <a:t>汇报说明：Core ATen 属于模型级算子表示，并非 FlagTree 直接接收的 Triton Kernel IR。FlagGems 是可选 Kernel 来源，关闭 FlagGems 不必然意味着没有经过 FlagTree。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资料来源：FlagTree前两个功能模块阶段成果汇报_20260922.html；多框架接入与统一IR语义规范阶段进展_20260922_提交版.pptx</a:t>
            </a:r>
          </a:p>
          <a:p xmlns:a="http://schemas.openxmlformats.org/drawingml/2006/main">
            <a:r>
              <a:t>汇报说明：为避免连线拥挤，上半部分说明转换路径，下半部分说明导出产物交接。39 个算子族来自去重样本登记，不等于 500 模型全部支持。动态 Shape 兼容处理仅针对所需模型与转换节点。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资料来源：FlagTree前两个功能模块阶段成果汇报_20260922.html；多框架接入与统一IR语义规范阶段进展_20260922_提交版.pptx</a:t>
            </a:r>
          </a:p>
          <a:p xmlns:a="http://schemas.openxmlformats.org/drawingml/2006/main">
            <a:r>
              <a:t>汇报说明：ONNX DistilBERT 的三组 batch/sequence 为 1×2、2×4、3×7。不同来源路径误差分别记录。EmbeddingGemma 表中是既有 STS12 对照结果的主分数相对差，不可用于与另一平台不同模型的分数排名。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资料来源：FlagTree前两个功能模块阶段成果汇报_20260922.html；多框架接入与统一IR语义规范阶段进展_20260922_提交版.pptx</a:t>
            </a:r>
          </a:p>
          <a:p xmlns:a="http://schemas.openxmlformats.org/drawingml/2006/main">
            <a:r>
              <a:t>汇报说明：MiniLM：547 个算子实例、1,641 条规则、1,445 条实际执行。bge-m3：1,893 个实例、5,679 条规则、4,917 条实际执行。图为 88.06% 与 86.58%，纵轴固定 0%–100%。其他状态为未实际执行或未实现，不能并入通过项。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资料来源：编译优化层阶段工作总结_20260923.md</a:t>
            </a:r>
          </a:p>
          <a:p xmlns:a="http://schemas.openxmlformats.org/drawingml/2006/main">
            <a:r>
              <a:t>汇报说明：来源明确说明代码位于独立开发分支，尚未全面回归或正式合入。本报告不将同事分支归为 dev/hx 代码。热运行文件及内容未变作为功能证据，不能单独证明稳定性能收益。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资料来源：F08-G01_两周工作汇报_20260923.docx</a:t>
            </a:r>
          </a:p>
          <a:p xmlns:a="http://schemas.openxmlformats.org/drawingml/2006/main">
            <a:r>
              <a:t>汇报说明：图分析使用 B32/S24 执行图。p50/p95 不含冷启动首次前向，首次编译不作为稳态性能结论。实测显存为测量阶段峰值相对预热后基线的增量，不等同单次前向独占分配。静态值仅涵盖导出图的 tensor storage。此表不能计算显存优化收益。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资料来源：F08-G01_两周工作汇报_20260923.docx</a:t>
            </a:r>
          </a:p>
          <a:p xmlns:a="http://schemas.openxmlformats.org/drawingml/2006/main">
            <a:r>
              <a:t>汇报说明：G1 合同第9节七条判据均有对应证据，但规模与长时稳定性待扩大。FlagTree 当前缺少模型级跨 Kernel 分配接口，不能据现有基线宣称 G2 优化完成。交付包：/workspace/zhoulexian/Docs/f08-g01_real_graph_bundle_20260923_v3/。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资料来源：郑凯文_近期工作汇报_20260923.md</a:t>
            </a:r>
          </a:p>
          <a:p xmlns:a="http://schemas.openxmlformats.org/drawingml/2006/main">
            <a:r>
              <a:t>汇报说明：下方虚线连接表示待复核链路，不能把已有 ELF 加载直接当作标准 @triton.jit 已打通。双 Die 枚举与上下文归属仍待核实，不宣称跨 Die 调度优化。后端实际编译阶段应以壁仞 SDK 和代码日志为准。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资料来源：python/setup_tools/utils/tools.py；python/setup_tools/utils/cambricon.py；本月三份组员汇报</a:t>
            </a:r>
          </a:p>
          <a:p xmlns:a="http://schemas.openxmlformats.org/drawingml/2006/main">
            <a:r>
              <a:t>汇报说明：仅对本次提供的材料进行证据归纳。未见记录不等于没有适配。下一步先联系维护人与复用已有成果，避免重复实现。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FlagTree前两个功能模块阶段成果汇报_20260922.html；多框架接入与统一IR语义规范阶段进展_20260922_提交版.pptx；编译优化层阶段工作总结_20260923.md；F08-G01_两周工作汇报_20260923.docx；郑凯文_近期工作汇报_20260923.md；python/setup_tools/utils/tools.py；python/setup_tools/utils/cambricon.py</a:t>
            </a:r>
          </a:p>
          <a:p xmlns:a="http://schemas.openxmlformats.org/drawingml/2006/main">
            <a:r>
              <a:t>汇报说明：本页为依据现有差距整理的建议计划，不作为已承诺的时间表。批量模型清单可按可获得数据分批纳入，不能把尚未获得的 500 模型写成已测试。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FlagTree前两个功能模块阶段成果汇报_20260922.html；多框架接入与统一IR语义规范阶段进展_20260922_提交版.pptx；编译优化层阶段工作总结_20260923.md；F08-G01_两周工作汇报_20260923.docx；郑凯文_近期工作汇报_20260923.md；python/setup_tools/utils/tools.py；python/setup_tools/utils/cambricon.py</a:t>
            </a:r>
          </a:p>
          <a:p xmlns:a="http://schemas.openxmlformats.org/drawingml/2006/main">
            <a:r>
              <a:t>汇报说明：结论不使用完成百分比。协同请求服务于模型扩大验证、后端可复现和性能对照三类具体任务。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FlagTree前两个功能模块阶段成果汇报_20260922.html；多框架接入与统一IR语义规范阶段进展_20260922_提交版.pptx；编译优化层阶段工作总结_20260923.md；F08-G01_两周工作汇报_20260923.docx；郑凯文_近期工作汇报_20260923.md；python/setup_tools/utils/tools.py；python/setup_tools/utils/cambricon.py</a:t>
            </a:r>
          </a:p>
          <a:p xmlns:a="http://schemas.openxmlformats.org/drawingml/2006/main">
            <a:r>
              <a:t>汇报说明：来源位于报告同目录。寒武纪判断另外参考本仓库 python/setup_tools/utils/tools.py 与 cambricon.py。本次汇总未新增设备实验。原始材料中的数据范围和限制保留在相应主题页。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3c3c774fb844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bd274114c943de" /><Relationship Type="http://schemas.openxmlformats.org/officeDocument/2006/relationships/slideLayout" Target="/ppt/slideLayouts/slideLayout1.xml" Id="R4f5eca38fcee4b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5eca38fcee4b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2dd6c8cf54a56" /><Relationship Type="http://schemas.openxmlformats.org/officeDocument/2006/relationships/image" Target="/ppt/media/image.png" Id="R744aff6676f74b0e" /><Relationship Type="http://schemas.openxmlformats.org/officeDocument/2006/relationships/notesSlide" Target="/ppt/notesSlides/notesSlide1.xml" Id="R7a523247cca948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74720e00d4f4b" /><Relationship Type="http://schemas.openxmlformats.org/officeDocument/2006/relationships/image" Target="/ppt/media/image2.png" Id="Rbaca4b646dd24510" /><Relationship Type="http://schemas.openxmlformats.org/officeDocument/2006/relationships/notesSlide" Target="/ppt/notesSlides/notesSlide2.xml" Id="R3d5c50ee556243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bc84c015e4952" /><Relationship Type="http://schemas.openxmlformats.org/officeDocument/2006/relationships/image" Target="/ppt/media/image3.png" Id="R2c2a92e92e4648c0" /><Relationship Type="http://schemas.openxmlformats.org/officeDocument/2006/relationships/notesSlide" Target="/ppt/notesSlides/notesSlide3.xml" Id="Rb415ac6fbf9148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66dbceea4429a" /><Relationship Type="http://schemas.openxmlformats.org/officeDocument/2006/relationships/image" Target="/ppt/media/image4.png" Id="R3c27a2d17f864ba6" /><Relationship Type="http://schemas.openxmlformats.org/officeDocument/2006/relationships/notesSlide" Target="/ppt/notesSlides/notesSlide4.xml" Id="Rfea8f72befbf46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5e69c7c584355" /><Relationship Type="http://schemas.openxmlformats.org/officeDocument/2006/relationships/image" Target="/ppt/media/image5.png" Id="R393278a823e7448e" /><Relationship Type="http://schemas.openxmlformats.org/officeDocument/2006/relationships/notesSlide" Target="/ppt/notesSlides/notesSlide5.xml" Id="R5b5d432bb07e40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9d018ecd84af6" /><Relationship Type="http://schemas.openxmlformats.org/officeDocument/2006/relationships/image" Target="/ppt/media/image6.png" Id="Re6d629b069c84573" /><Relationship Type="http://schemas.openxmlformats.org/officeDocument/2006/relationships/chart" Target="/ppt/slides/charts/chart1.xml" Id="R929493f2f9944fbd" /><Relationship Type="http://schemas.openxmlformats.org/officeDocument/2006/relationships/notesSlide" Target="/ppt/notesSlides/notesSlide6.xml" Id="R500c59c96fdd41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00d17cc4f47fc" /><Relationship Type="http://schemas.openxmlformats.org/officeDocument/2006/relationships/image" Target="/ppt/media/image7.png" Id="R8e43cf74e8fd49d9" /><Relationship Type="http://schemas.openxmlformats.org/officeDocument/2006/relationships/notesSlide" Target="/ppt/notesSlides/notesSlide7.xml" Id="R4400513b576e40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56c5a2f3c48df" /><Relationship Type="http://schemas.openxmlformats.org/officeDocument/2006/relationships/image" Target="/ppt/media/image8.png" Id="R4ea3e8f101224a06" /><Relationship Type="http://schemas.openxmlformats.org/officeDocument/2006/relationships/notesSlide" Target="/ppt/notesSlides/notesSlide8.xml" Id="Re39bdb9b0d8647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01497e3204f88" /><Relationship Type="http://schemas.openxmlformats.org/officeDocument/2006/relationships/image" Target="/ppt/media/image9.png" Id="Redcf2abb83f54e2d" /><Relationship Type="http://schemas.openxmlformats.org/officeDocument/2006/relationships/notesSlide" Target="/ppt/notesSlides/notesSlide9.xml" Id="R826e33de5bb849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dc67004604ecc" /><Relationship Type="http://schemas.openxmlformats.org/officeDocument/2006/relationships/image" Target="/ppt/media/image10.png" Id="R9e0550c18a7740c5" /><Relationship Type="http://schemas.openxmlformats.org/officeDocument/2006/relationships/notesSlide" Target="/ppt/notesSlides/notesSlide10.xml" Id="Raa68429b6ecf49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72ec64cbb4ec1" /><Relationship Type="http://schemas.openxmlformats.org/officeDocument/2006/relationships/image" Target="/ppt/media/image11.png" Id="R7d661cc4581b4a68" /><Relationship Type="http://schemas.openxmlformats.org/officeDocument/2006/relationships/notesSlide" Target="/ppt/notesSlides/notesSlide11.xml" Id="Rb8881196160948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41f801fbf4f81" /><Relationship Type="http://schemas.openxmlformats.org/officeDocument/2006/relationships/image" Target="/ppt/media/image12.png" Id="R40748e97d11e4e67" /><Relationship Type="http://schemas.openxmlformats.org/officeDocument/2006/relationships/notesSlide" Target="/ppt/notesSlides/notesSlide12.xml" Id="R0bde93e0789b471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5d7effd4b4f7d" /><Relationship Type="http://schemas.openxmlformats.org/officeDocument/2006/relationships/image" Target="/ppt/media/image13.png" Id="R7d2004dc08a346a7" /><Relationship Type="http://schemas.openxmlformats.org/officeDocument/2006/relationships/notesSlide" Target="/ppt/notesSlides/notesSlide13.xml" Id="R3ce4219fd4ae49c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d47b91fc24939" /><Relationship Type="http://schemas.openxmlformats.org/officeDocument/2006/relationships/image" Target="/ppt/media/image14.png" Id="Rc4b0e934f52f44bd" /><Relationship Type="http://schemas.openxmlformats.org/officeDocument/2006/relationships/notesSlide" Target="/ppt/notesSlides/notesSlide14.xml" Id="R4e86686875d54ae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实际执行比例</c:v>
          </c:tx>
          <c:spPr>
            <a:solidFill xmlns:a="http://schemas.openxmlformats.org/drawingml/2006/main">
              <a:srgbClr val="4B84C4"/>
            </a:solidFill>
          </c:spPr>
          <c:cat>
            <c:strLit>
              <c:ptCount val="2"/>
              <c:pt idx="0">
                <c:v>MiniLM-L6</c:v>
              </c:pt>
              <c:pt idx="1">
                <c:v>bge-m3</c:v>
              </c:pt>
            </c:strLit>
          </c:cat>
          <c:val>
            <c:numLit>
              <c:formatCode>0.00%</c:formatCode>
              <c:ptCount val="2"/>
              <c:pt idx="0">
                <c:v>0.8805606337599025</c:v>
              </c:pt>
              <c:pt idx="1">
                <c:v>0.8658214474379292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F4F8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BE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A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6B85F7-0794-4706-A833-969A0585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361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aff6676f74b0e"/>
          <a:stretch xmlns:a="http://schemas.openxmlformats.org/drawingml/2006/main"/>
        </p:blipFill>
        <p:spPr>
          <a:xfrm xmlns:a="http://schemas.openxmlformats.org/drawingml/2006/main">
            <a:off x="9957329" y="219075"/>
            <a:ext cx="1849967" cy="4381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A24C31-0652-438D-B885-FFA62F97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05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rPr>
              <a:t>BAAI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DF72A6-A9DF-4F9B-BD83-9F42C472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D33598-6CC8-4D47-8361-F512CE17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430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rPr>
              <a:t>编译优化层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245126-244B-4463-8FBA-DD032C86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14525"/>
            <a:ext cx="9715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1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国产算卡适配优化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41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月度报告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9F2CFD-5D0C-4DAA-86A2-F2C49BD1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052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FlagTree 多框架接入与后端验证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5B34ED-7D3A-41C8-B71A-3D261DDE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8627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5565CB-50D2-44AD-A806-E247A300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昇腾    昆仑芯    平头哥    寒武纪    壁仞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90DA7D-46DD-45FD-9F5B-3449F92F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816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2026年9月  ·  统计截至9月23日</a:t>
            </a:r>
          </a:p>
        </p:txBody>
      </p:sp>
    </p:spTree>
    <p:extLst>
      <p:ext uri="{BB962C8B-B14F-4D97-AF65-F5344CB8AC3E}">
        <p14:creationId xmlns:p14="http://schemas.microsoft.com/office/powerpoint/2010/main" val="15141164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3C742-BC80-49BD-87AC-A1EA65D4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"/>
            <a:ext cx="352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53F53-7F4C-4C28-A9B1-C131D2DA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rPr>
              <a:t>月度总览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8C678-89C9-4DF1-86E2-F26D0BD7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五平台本月进展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277DB-DA30-4222-B59D-5C616986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11315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a4b646dd24510"/>
          <a:stretch xmlns:a="http://schemas.openxmlformats.org/drawingml/2006/main"/>
        </p:blipFill>
        <p:spPr>
          <a:xfrm xmlns:a="http://schemas.openxmlformats.org/drawingml/2006/main">
            <a:off x="9957329" y="219075"/>
            <a:ext cx="1849967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8E7C5-13EC-41AC-9E64-314FA12B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05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rPr>
              <a:t>BAAI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48AE2-38D9-465C-93EC-9C738FFE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5B178-6A42-4381-8D3F-6D50CF33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07346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昆仑芯与平头哥已有模型级结果，昇腾完成缓存专项初验，壁仞继续核实标准执行链。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52450" y="1666875"/>
          <a:ext xmlns:a="http://schemas.openxmlformats.org/drawingml/2006/main" cx="10734675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66486"/>
                <a:gridCol w="3050290"/>
                <a:gridCol w="2991631"/>
                <a:gridCol w="3226268"/>
              </a:tblGrid>
              <a:tr h="438150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</a:t>
                      </a:r>
                    </a:p>
                  </a:txBody>
                  <a:tcPr marL="114300" marR="114300" marT="57150" marB="57150" anchor="ctr">
                    <a:solidFill>
                      <a:srgbClr val="1F4F8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本月已有证据</a:t>
                      </a:r>
                    </a:p>
                  </a:txBody>
                  <a:tcPr marL="114300" marR="114300" marT="57150" marB="57150" anchor="ctr">
                    <a:solidFill>
                      <a:srgbClr val="1F4F8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当前边界</a:t>
                      </a:r>
                    </a:p>
                  </a:txBody>
                  <a:tcPr marL="114300" marR="114300" marT="57150" marB="57150" anchor="ctr">
                    <a:solidFill>
                      <a:srgbClr val="1F4F8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下一项重点</a:t>
                      </a:r>
                    </a:p>
                  </a:txBody>
                  <a:tcPr marL="114300" marR="114300" marT="57150" marB="57150" anchor="ctr">
                    <a:solidFill>
                      <a:srgbClr val="1F4F8F"/>
                    </a:solidFill>
                  </a:tcPr>
                </a:tc>
              </a:tr>
              <a:tr h="647700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昆仑芯 XPU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三框架代表性接入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 Shape 与语义审计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样例范围已验证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规模化覆盖未完成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扩展模型与动态范围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补齐高频语义规则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昇腾 910C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缓存冷/热复用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版本指纹改造初验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功能验证通过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全面回归及合入待完成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异常缓存与失败回退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同条件重复测试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</a:tr>
              <a:tr h="647700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平头哥 PPU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两模型精度与显存基线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张量生命周期分析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G1 分析证据已形成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G2 优化收益尚未验证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确认跨 Kernel 分配接口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再开展优化前后对照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壁仞 Supa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已有独立算子基础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完成接手问题清单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 @triton.jit 全链路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仍需代码与日志确认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 vectoradd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核实编译及 Launcher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</a:tr>
              <a:tr h="647700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寒武纪 MLU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仓库存在插件接入配置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本次材料未提供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本月实机结果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确认环境与既有结果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补充项目内复验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A5235-AB0D-427B-A86B-57E5C63B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9595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4B735F-0E76-40FC-A899-95841627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0734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阶段判断：各平台验证深度不同，尚未完成统一模型集上的跨平台验收。</a:t>
            </a:r>
          </a:p>
        </p:txBody>
      </p:sp>
    </p:spTree>
    <p:extLst>
      <p:ext uri="{BB962C8B-B14F-4D97-AF65-F5344CB8AC3E}">
        <p14:creationId xmlns:p14="http://schemas.microsoft.com/office/powerpoint/2010/main" val="567679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13D4CA-5E36-4E49-B920-8F98E1EF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"/>
            <a:ext cx="352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7870E-184A-4B37-959F-499DEECF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rPr>
              <a:t>总体架构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4B7EC-FAA9-4468-AF2A-14656FBB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模型接入与国产后端的衔接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A8AC6-5769-4C6D-8AC4-4DDB0F1A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11315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a92e92e4648c0"/>
          <a:stretch xmlns:a="http://schemas.openxmlformats.org/drawingml/2006/main"/>
        </p:blipFill>
        <p:spPr>
          <a:xfrm xmlns:a="http://schemas.openxmlformats.org/drawingml/2006/main">
            <a:off x="9957329" y="219075"/>
            <a:ext cx="1849967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F8378-21AB-4A89-B44B-B522A647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05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rPr>
              <a:t>BAAI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F2D6A-76E7-4389-AA36-881846F7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F1A1B78-D581-4DC6-B03C-0B186D04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07346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公共前端处理模型语义，FlagTree 编译进入 Triton 路径的 Kernel，各后端负责目标相关实现。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F3BEA9E-FB86-4EBF-BB62-A0C0CBFE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2095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A8855B9-2481-4287-9377-6580E4DC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19431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PyTorch / ONNX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TensorFlow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FEC0BF4-9AE1-4C66-8CE4-A2CED04C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28800"/>
            <a:ext cx="22383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85D3BC9-F393-44FD-A43A-CC5ACB7C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05000"/>
            <a:ext cx="2085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模块一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Core ATen / PT2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9CC269E-40C4-4705-B5D7-2A539C75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28800"/>
            <a:ext cx="22383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958C580-5D1F-42CF-AFFE-FC0E0773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05000"/>
            <a:ext cx="20859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语义检查与报告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785ECC4-070E-4130-BA1B-969DC1BB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28800"/>
            <a:ext cx="2857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55B3D0D-B4B3-496A-BCBC-D63EB96D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05000"/>
            <a:ext cx="27051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模型框架编译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生成 Kernel</a:t>
            </a:r>
          </a:p>
        </p:txBody>
      </p:sp>
      <p:cxnSp>
        <p:nvCxnSpPr>
          <p:cNvPr id="127" name=""/>
          <p:cNvCxnSpPr>
            <a:stCxn xmlns:a="http://schemas.openxmlformats.org/drawingml/2006/main" id="77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2647950" y="2224088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128" name=""/>
          <p:cNvCxnSpPr>
            <a:stCxn xmlns:a="http://schemas.openxmlformats.org/drawingml/2006/main" id="79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>
            <a:off x="5286375" y="2224088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129" name=""/>
          <p:cNvCxnSpPr>
            <a:stCxn xmlns:a="http://schemas.openxmlformats.org/drawingml/2006/main" id="81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7953375" y="2224088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700A9C7-0467-4E83-ABA7-B4C0F457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500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公共前端实机复验主要来自昆仑芯 XPU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6E969A5-0A34-4492-98BC-84990BCD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0425"/>
            <a:ext cx="2714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EFB9BB2-5828-44CE-A76C-E179522F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25622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FlagGems 等算子库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显式 Triton Kernel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F306ECF-D5D2-4886-9C58-1285E441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00425"/>
            <a:ext cx="3476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4A213F2-4D13-4959-9ED1-597D26B0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76625"/>
            <a:ext cx="33242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FlagTree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Kernel 编译与公共优化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F81DCEA-E180-4F47-9B3E-E4A78589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00425"/>
            <a:ext cx="29051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1ADDE64-E692-4E49-921B-9878CDAD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476625"/>
            <a:ext cx="2752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目标后端与厂商工具链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产物加载及设备启动</a:t>
            </a:r>
          </a:p>
        </p:txBody>
      </p:sp>
      <p:cxnSp>
        <p:nvCxnSpPr>
          <p:cNvPr id="137" name=""/>
          <p:cNvCxnSpPr>
            <a:stCxn xmlns:a="http://schemas.openxmlformats.org/drawingml/2006/main" id="89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3267075" y="3771900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138" name=""/>
          <p:cNvCxnSpPr>
            <a:stCxn xmlns:a="http://schemas.openxmlformats.org/drawingml/2006/main" id="91" idx="3"/>
            <a:endCxn xmlns:a="http://schemas.openxmlformats.org/drawingml/2006/main" id="93" idx="1"/>
          </p:cNvCxnSpPr>
          <p:nvPr/>
        </p:nvCxnSpPr>
        <p:spPr>
          <a:xfrm xmlns:a="http://schemas.openxmlformats.org/drawingml/2006/main">
            <a:off x="7572375" y="37719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139" name=""/>
          <p:cNvCxnSpPr>
            <a:stCxn xmlns:a="http://schemas.openxmlformats.org/drawingml/2006/main" id="83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 flipH="1">
            <a:off x="5834063" y="2619375"/>
            <a:ext cx="3976688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71D18F1-C071-45AA-B7B7-0A5CBFFD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1071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模型中未进入 Triton 的计算仍可能调用框架原生实现或厂商库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0AD6DEE-4277-4B84-97F5-41E12787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05375"/>
            <a:ext cx="1971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2447F41-E321-4445-B680-6CDABFB2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1819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昇腾 Ascend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804D236-CA11-4B60-A5DA-95B9A745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971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08A913D-3DC9-4242-9A8F-C9836CF9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81575"/>
            <a:ext cx="1819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昆仑芯 XPU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6A67D7D-3204-4D35-AD09-D04D5DF3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905375"/>
            <a:ext cx="1971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4B9A0C9-321B-4E8B-B385-A2888816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981575"/>
            <a:ext cx="1819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平头哥 PPU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955A530-D9AE-4700-8773-2DEA96D5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05375"/>
            <a:ext cx="1971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D33D0FE-7F8B-498F-B143-70DC0788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81575"/>
            <a:ext cx="1819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寒武纪 MLU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133C69E-AB7D-4D9D-B8D6-B5E8DB2C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905375"/>
            <a:ext cx="1971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988C8A0-0F41-46AA-8C5D-FC208959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81575"/>
            <a:ext cx="1819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壁仞 Supa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06FB297-922B-4AEF-83BB-7D53F218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F0845AB-0241-4538-ACA7-0E0926DD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0734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五类后端均需独立核验实际执行路径；图中连接表示职责关系，不表示全部平台已经跑通。</a:t>
            </a:r>
          </a:p>
        </p:txBody>
      </p:sp>
    </p:spTree>
    <p:extLst>
      <p:ext uri="{BB962C8B-B14F-4D97-AF65-F5344CB8AC3E}">
        <p14:creationId xmlns:p14="http://schemas.microsoft.com/office/powerpoint/2010/main" val="11969254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4BF95D-F66D-42CC-8F46-B524861C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"/>
            <a:ext cx="352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D8093-F5E5-4BE4-873D-7B358939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rPr>
              <a:t>公共能力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6F0EE-43B3-42D2-B1D3-FDB2A985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模块一与模块二的具体衔接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79713-A882-4CB0-A7D0-EC97B82C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11315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7a2d17f864ba6"/>
          <a:stretch xmlns:a="http://schemas.openxmlformats.org/drawingml/2006/main"/>
        </p:blipFill>
        <p:spPr>
          <a:xfrm xmlns:a="http://schemas.openxmlformats.org/drawingml/2006/main">
            <a:off x="9957329" y="219075"/>
            <a:ext cx="1849967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8DF75-C8AB-416F-8DCA-E2562BD2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05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rPr>
              <a:t>BAAI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C8D47-5583-4A77-8C5E-6CD6ED42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F81C26-63A2-4EC8-9BD7-CB60801C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07346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模块一输出统一模型产物，模块二检查产物中的算子语义，并保留逐项审计结果。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19C348-8453-4423-9D4A-3C32AB32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D30E7B-9A94-4880-95E2-95EB2BB7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33575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PyTorch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24BB5E-EE70-49C3-B186-5FF7F138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6CF915-D79A-4395-8946-8C77CF92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ONNX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909E22-D360-45F5-A862-094025D5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90925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FC2530-FEC5-41FD-A09F-1ACA22F1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67125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TensorFlow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8056C5-0EE8-47D2-BD3C-076831FB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590925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B4E6D1-13F4-44F5-8DDD-8ED00D61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667125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tf2onnx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EF797C-FADC-4AE7-97FD-E3E897A2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724150"/>
            <a:ext cx="1838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597828-41A0-4F9C-9E49-D9764419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00350"/>
            <a:ext cx="1685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onnx2torch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C69AF2-DBF8-4D29-A2D2-7F48B061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62225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979CAF-C5C8-48A7-9A5A-AA2C8C89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38425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动态 Shape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兼容处理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458895-D94D-4DEB-8072-12EC6FB7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00213"/>
            <a:ext cx="19812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B7C628-F70C-4F49-A907-767FE968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76413"/>
            <a:ext cx="1828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torch.export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Core ATen</a:t>
            </a:r>
          </a:p>
        </p:txBody>
      </p:sp>
      <p:cxnSp>
        <p:nvCxnSpPr>
          <p:cNvPr id="78" name=""/>
          <p:cNvCxnSpPr>
            <a:stCxn xmlns:a="http://schemas.openxmlformats.org/drawingml/2006/main" id="30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2266950" y="38671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32" idx="0"/>
            <a:endCxn xmlns:a="http://schemas.openxmlformats.org/drawingml/2006/main" id="34" idx="2"/>
          </p:cNvCxnSpPr>
          <p:nvPr/>
        </p:nvCxnSpPr>
        <p:spPr>
          <a:xfrm xmlns:a="http://schemas.openxmlformats.org/drawingml/2006/main" flipV="1">
            <a:off x="3543300" y="3276600"/>
            <a:ext cx="2205038" cy="314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28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2266950" y="3000375"/>
            <a:ext cx="2562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34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6667500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36" idx="3"/>
            <a:endCxn xmlns:a="http://schemas.openxmlformats.org/drawingml/2006/main" id="38" idx="2"/>
          </p:cNvCxnSpPr>
          <p:nvPr/>
        </p:nvCxnSpPr>
        <p:spPr>
          <a:xfrm xmlns:a="http://schemas.openxmlformats.org/drawingml/2006/main" flipV="1">
            <a:off x="8858250" y="2566988"/>
            <a:ext cx="1447800" cy="433387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26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2266950" y="2133600"/>
            <a:ext cx="704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11EB54-2BA4-4112-AA9C-72D0FA7E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76725"/>
            <a:ext cx="833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TensorFlow 先转换为 ONNX，再复用 onnx2torch 路径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0D41F7-9BEE-4226-A4D3-E7D6A422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295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1EAC36-293D-489A-88FB-9BEF9CAF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86325"/>
            <a:ext cx="2800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PT2 + manifest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样例输入与验证结果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F1CF27-7EB1-4BCF-94BA-E38214DC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10125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1481E6-1C92-4045-8AFD-810DFAA7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86325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模块二语义检查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dtype / Shape / layout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314A3B-6FFA-429F-AE49-F1CD9592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10125"/>
            <a:ext cx="2990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AC234E8-EE2D-45AB-8F9D-8D64C613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86325"/>
            <a:ext cx="2838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semantics.json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已执行、未执行与失败项</a:t>
            </a:r>
          </a:p>
        </p:txBody>
      </p:sp>
      <p:cxnSp>
        <p:nvCxnSpPr>
          <p:cNvPr id="91" name=""/>
          <p:cNvCxnSpPr>
            <a:stCxn xmlns:a="http://schemas.openxmlformats.org/drawingml/2006/main" id="47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3505200" y="52006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49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7600950" y="520065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055021F-671A-4C81-A235-24C74AFE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接入回归：24 项通过     语义专项：15 项通过     语义登记：39 个算子族</a:t>
            </a:r>
          </a:p>
        </p:txBody>
      </p:sp>
    </p:spTree>
    <p:extLst>
      <p:ext uri="{BB962C8B-B14F-4D97-AF65-F5344CB8AC3E}">
        <p14:creationId xmlns:p14="http://schemas.microsoft.com/office/powerpoint/2010/main" val="15394924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ECDFE0-52CB-4D03-BBFC-8374F887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"/>
            <a:ext cx="352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0F036-2A15-405E-872D-503B76D7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rPr>
              <a:t>昆仑芯 XPU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A6A10-012C-47E7-A02D-CF51E3E3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昆仑芯模型级验证结果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14AAA-5454-45CB-B495-32B1F9D1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11315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278a823e7448e"/>
          <a:stretch xmlns:a="http://schemas.openxmlformats.org/drawingml/2006/main"/>
        </p:blipFill>
        <p:spPr>
          <a:xfrm xmlns:a="http://schemas.openxmlformats.org/drawingml/2006/main">
            <a:off x="9957329" y="219075"/>
            <a:ext cx="1849967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EA2A1-D7A9-4E58-A491-1E9D7926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05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rPr>
              <a:t>BAAI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87367-CFE3-4014-BF45-684EAA96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5E463-D898-41AB-B9A1-8009E794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07346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代表性样例已完成转换后复验，数值结果与覆盖范围按任务分别记录。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552450" y="1666875"/>
          <a:ext xmlns:a="http://schemas.openxmlformats.org/drawingml/2006/main" cx="10734675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72928"/>
                <a:gridCol w="2937911"/>
                <a:gridCol w="2598921"/>
                <a:gridCol w="2824914"/>
              </a:tblGrid>
              <a:tr h="419100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验证对象</a:t>
                      </a:r>
                    </a:p>
                  </a:txBody>
                  <a:tcPr marL="114300" marR="114300" marT="57150" marB="57150" anchor="ctr">
                    <a:solidFill>
                      <a:srgbClr val="1F4F8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已验证范围</a:t>
                      </a:r>
                    </a:p>
                  </a:txBody>
                  <a:tcPr marL="114300" marR="114300" marT="57150" marB="57150" anchor="ctr">
                    <a:solidFill>
                      <a:srgbClr val="1F4F8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关键结果</a:t>
                      </a:r>
                    </a:p>
                  </a:txBody>
                  <a:tcPr marL="114300" marR="114300" marT="57150" marB="57150" anchor="ctr">
                    <a:solidFill>
                      <a:srgbClr val="1F4F8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证据含义</a:t>
                      </a:r>
                    </a:p>
                  </a:txBody>
                  <a:tcPr marL="114300" marR="114300" marT="57150" marB="57150" anchor="ctr">
                    <a:solidFill>
                      <a:srgbClr val="1F4F8F"/>
                    </a:solidFill>
                  </a:tcPr>
                </a:tc>
              </a:tr>
              <a:tr h="523875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ONNX 小图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/ 6 组检查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XPU 最大误差 0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基础转换检查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DistilBERT</a:t>
                      </a:r>
                    </a:p>
                    <a:p>
                      <a:pPr algn="l"/>
                      <a:r>
                        <a:rPr sz="1650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ONNX 路径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同一动态 PT2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组 Shape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最大误差 ≤ 8.85e−6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指定动态范围复验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</a:tr>
              <a:tr h="657225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DistilBERT</a:t>
                      </a:r>
                    </a:p>
                    <a:p>
                      <a:pPr algn="l"/>
                      <a:r>
                        <a:rPr sz="1650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TensorFlow 路径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 tf2onnx、onnx2torch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复用动态导出链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最大误差 ≤ 1.53e−5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跨框架代表性复验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If / Loop / Scan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组图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fullgraph 检查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CPU / XPU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最大误差 0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结构化控制流样例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</a:tr>
              <a:tr h="657225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EmbeddingGemma</a:t>
                      </a:r>
                    </a:p>
                    <a:p>
                      <a:pPr algn="l"/>
                      <a:r>
                        <a:rPr sz="1650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300M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STS12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3,108 对文本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主分数相对差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0.00007697%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该任务精度基本一致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5631DA-FA24-42BB-9906-A1B077A8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4832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DB802A-DDB5-4DDC-8931-274D804A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38825"/>
            <a:ext cx="10734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待扩展：长序列、更多模型类型和批量失败分类。以上结果不代表 250 / 500 模型全面通过。</a:t>
            </a:r>
          </a:p>
        </p:txBody>
      </p:sp>
    </p:spTree>
    <p:extLst>
      <p:ext uri="{BB962C8B-B14F-4D97-AF65-F5344CB8AC3E}">
        <p14:creationId xmlns:p14="http://schemas.microsoft.com/office/powerpoint/2010/main" val="5039209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F8F824-3966-491B-84EE-4EFD20CA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"/>
            <a:ext cx="352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04436-2E17-48A9-887A-3CA7573C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rPr>
              <a:t>统一 IR 语义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789C2-707D-4EEA-AB45-F7B3F10A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模块二的规则执行情况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1C48A-EE72-4DC7-9ACB-8EC666D3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11315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629b069c84573"/>
          <a:stretch xmlns:a="http://schemas.openxmlformats.org/drawingml/2006/main"/>
        </p:blipFill>
        <p:spPr>
          <a:xfrm xmlns:a="http://schemas.openxmlformats.org/drawingml/2006/main">
            <a:off x="9957329" y="219075"/>
            <a:ext cx="1849967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91B3B-F253-4033-AE8A-E93FAF06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05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rPr>
              <a:t>BAAI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22B91-FDB2-4304-A4CB-636850F7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869193-279A-4D0F-81A2-561955A7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07346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MiniLM 与 bge-m3 已完成模型级审计，实际执行的规则均通过，仍有规则未执行或未实现。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E95A97-F877-48E3-AF2E-32234C5D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规则实际执行比例</a:t>
            </a:r>
          </a:p>
        </p:txBody>
      </p:sp>
      <p:graphicFrame>
        <p:nvGraphicFramePr>
          <p:cNvPr id="64" name="Chart"/>
          <p:cNvGraphicFramePr/>
          <p:nvPr/>
        </p:nvGraphicFramePr>
        <p:xfrm>
          <a:off xmlns:a="http://schemas.openxmlformats.org/drawingml/2006/main" x="552450" y="2171700"/>
          <a:ext xmlns:a="http://schemas.openxmlformats.org/drawingml/2006/main" cx="5381625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9493f2f9944fbd"/>
          </a:graphicData>
        </a:graphic>
      </p:graphicFrame>
      <p:graphicFrame>
        <p:nvGraphicFramePr>
          <p:cNvPr id="65" name=""/>
          <p:cNvGraphicFramePr/>
          <p:nvPr/>
        </p:nvGraphicFramePr>
        <p:xfrm>
          <a:off xmlns:a="http://schemas.openxmlformats.org/drawingml/2006/main" x="6381750" y="1714500"/>
          <a:ext xmlns:a="http://schemas.openxmlformats.org/drawingml/2006/main" cx="4905375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87394"/>
                <a:gridCol w="1408991"/>
                <a:gridCol w="1408991"/>
              </a:tblGrid>
              <a:tr h="466725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规则数量</a:t>
                      </a:r>
                    </a:p>
                  </a:txBody>
                  <a:tcPr marL="114300" marR="114300" marT="57150" marB="57150" anchor="ctr">
                    <a:solidFill>
                      <a:srgbClr val="1F4F8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MiniLM-L6</a:t>
                      </a:r>
                    </a:p>
                  </a:txBody>
                  <a:tcPr marL="114300" marR="114300" marT="57150" marB="57150" anchor="ctr">
                    <a:solidFill>
                      <a:srgbClr val="1F4F8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bge-m3</a:t>
                      </a:r>
                    </a:p>
                  </a:txBody>
                  <a:tcPr marL="114300" marR="114300" marT="57150" marB="57150" anchor="ctr">
                    <a:solidFill>
                      <a:srgbClr val="1F4F8F"/>
                    </a:solidFill>
                  </a:tcPr>
                </a:tc>
              </a:tr>
              <a:tr h="495300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总计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1,641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5,679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已执行且通过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1,445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4,917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</a:tr>
              <a:tr h="495300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其他状态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执行失败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63CFAFA-A19E-426D-97C4-75E455AC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0100"/>
            <a:ext cx="4838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比例 = 已执行规则数 ÷ 该模型全部规则数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不用于表示适配完成率或模型通过率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D7D2A03-CC69-4E3C-963F-4556BF77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FDB9AF-2B5D-4963-9BCD-40C02EB6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0734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下一步补齐符号 reshape、矩阵逻辑轴 layout 与运行时 Shape 元数据，并扩展模型审计范围。</a:t>
            </a:r>
          </a:p>
        </p:txBody>
      </p:sp>
    </p:spTree>
    <p:extLst>
      <p:ext uri="{BB962C8B-B14F-4D97-AF65-F5344CB8AC3E}">
        <p14:creationId xmlns:p14="http://schemas.microsoft.com/office/powerpoint/2010/main" val="20211385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04948-821E-4C32-A2A9-91F0D7F4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"/>
            <a:ext cx="352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EF8E5-C782-4B68-BF2F-A46C7B2F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rPr>
              <a:t>昇腾 Ascend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C7694-5B03-432D-92D5-AE6E1737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昇腾 910C 缓存治理初验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CD664-0D8D-4EA2-AEA3-54647E9C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11315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3cf74e8fd49d9"/>
          <a:stretch xmlns:a="http://schemas.openxmlformats.org/drawingml/2006/main"/>
        </p:blipFill>
        <p:spPr>
          <a:xfrm xmlns:a="http://schemas.openxmlformats.org/drawingml/2006/main">
            <a:off x="9957329" y="219075"/>
            <a:ext cx="1849967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5C2A2-ABC5-4C93-B947-2DDF3A8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05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rPr>
              <a:t>BAAI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A8D9E-FA8F-4F2E-8ED0-FE7F3E36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927B10-6623-4FCE-ADAE-EBC26EF4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07346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完成冷/热缓存链路验证，并将实际编译器及活动 CANN 环境信息纳入版本指纹。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F631CC-0B1C-4AB1-9FF5-63844313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22E364-138D-4891-97C1-1FD47908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43075"/>
            <a:ext cx="904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旧缓存标识未显式包含实际 NPU 编译器与活动 CANN 环境信息。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工具链变化后，旧产物的复用边界需要明确约束。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BB54E7-BEB2-4C6F-A407-B24D3C5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0510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60EB9F-DE37-47DC-92D2-54AED44F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3627F3-DD22-415B-90B7-744A7234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2705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编译器与 CANN 信息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04C429-47D7-47C3-A8BC-7165BF8D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670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550DC8-01E0-4782-800D-35498088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143250"/>
            <a:ext cx="2705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版本指纹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参与缓存标识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573EBD-2202-4BF4-9BDC-79F17228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067050"/>
            <a:ext cx="35718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E7FB70-753E-44C4-BF88-17998B7F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143250"/>
            <a:ext cx="34194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条件不变时复用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相关版本变化时失效</a:t>
            </a:r>
          </a:p>
        </p:txBody>
      </p:sp>
      <p:cxnSp>
        <p:nvCxnSpPr>
          <p:cNvPr id="56" name=""/>
          <p:cNvCxnSpPr>
            <a:stCxn xmlns:a="http://schemas.openxmlformats.org/drawingml/2006/main" id="27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409950" y="3433763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29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7000875" y="3433763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2AA87E-DCF8-4650-997B-882CB668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已有验证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077D50-079D-49FF-BA88-8C3C296E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91000"/>
            <a:ext cx="88011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lnSpc>
                <a:spcPct val="110000"/>
              </a:lnSpc>
              <a:spcAft>
                <a:spcPts val="1300"/>
              </a:spcAft>
              <a:buNone/>
              <a:defRPr sz="180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相同输入指纹稳定，相关版本信息变化时指纹变化</a:t>
            </a:r>
          </a:p>
          <a:p xmlns:a="http://schemas.openxmlformats.org/drawingml/2006/main">
            <a:pPr marL="228600" indent="-101600">
              <a:lnSpc>
                <a:spcPct val="110000"/>
              </a:lnSpc>
              <a:spcAft>
                <a:spcPts val="1300"/>
              </a:spcAft>
              <a:buNone/>
              <a:defRPr sz="180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910C 向量加法冷/热运行正确，改造前后缓存目录符合预期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65F8D5-8C6F-4D96-AA90-31A13BC1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F61F1C-6C8B-49D5-B537-735695BB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10734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BE5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E5127"/>
                </a:solidFill>
                <a:latin typeface="Microsoft YaHei"/>
                <a:ea typeface="Microsoft YaHei"/>
                <a:cs typeface="Microsoft YaHei"/>
              </a:rPr>
              <a:t>当前为功能性初验。异常缓存、失败回退、模型回归与正式合入尚待完成，暂不报告加速比例。</a:t>
            </a:r>
          </a:p>
        </p:txBody>
      </p:sp>
    </p:spTree>
    <p:extLst>
      <p:ext uri="{BB962C8B-B14F-4D97-AF65-F5344CB8AC3E}">
        <p14:creationId xmlns:p14="http://schemas.microsoft.com/office/powerpoint/2010/main" val="7307977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CCE50E-5D96-4023-A0A4-B0D0D16C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"/>
            <a:ext cx="352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3F490-DA3E-4959-9173-3048AB13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rPr>
              <a:t>平头哥 PPU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CDEC0-7D23-46F5-9450-0B0D997E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平头哥两模型精度与运行基线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3A49E-1B6C-4ECD-ACF4-D167BFD3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11315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3e8f101224a06"/>
          <a:stretch xmlns:a="http://schemas.openxmlformats.org/drawingml/2006/main"/>
        </p:blipFill>
        <p:spPr>
          <a:xfrm xmlns:a="http://schemas.openxmlformats.org/drawingml/2006/main">
            <a:off x="9957329" y="219075"/>
            <a:ext cx="1849967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45597-F500-4FBA-8072-F795E500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05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rPr>
              <a:t>BAAI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813CA-67D3-4E09-8FE0-D70F5332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BF27D1F-96D9-4546-875A-E715C171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07346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PPU-ZW810E，FlagGems 关闭。实测覆盖 all-MiniLM-L6-v2 与 BGE-large-en-v1.5。</a:t>
            </a:r>
          </a:p>
        </p:txBody>
      </p:sp>
      <p:graphicFrame>
        <p:nvGraphicFramePr>
          <p:cNvPr id="76" name=""/>
          <p:cNvGraphicFramePr/>
          <p:nvPr/>
        </p:nvGraphicFramePr>
        <p:xfrm>
          <a:off xmlns:a="http://schemas.openxmlformats.org/drawingml/2006/main" x="552450" y="1685925"/>
          <a:ext xmlns:a="http://schemas.openxmlformats.org/drawingml/2006/main" cx="10734675" cy="2133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7548"/>
                <a:gridCol w="2254282"/>
                <a:gridCol w="2683669"/>
                <a:gridCol w="1932242"/>
                <a:gridCol w="2146935"/>
              </a:tblGrid>
              <a:tr h="685800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114300" marR="114300" marT="57150" marB="57150" anchor="ctr">
                    <a:solidFill>
                      <a:srgbClr val="1F4F8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STS12 分数</a:t>
                      </a:r>
                    </a:p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PPU / A100</a:t>
                      </a:r>
                    </a:p>
                  </a:txBody>
                  <a:tcPr marL="114300" marR="114300" marT="57150" marB="57150" anchor="ctr">
                    <a:solidFill>
                      <a:srgbClr val="1F4F8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预热后延迟</a:t>
                      </a:r>
                    </a:p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p50 / p95</a:t>
                      </a:r>
                    </a:p>
                  </a:txBody>
                  <a:tcPr marL="114300" marR="114300" marT="57150" marB="57150" anchor="ctr">
                    <a:solidFill>
                      <a:srgbClr val="1F4F8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静态非参数</a:t>
                      </a:r>
                    </a:p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峰值 MiB</a:t>
                      </a:r>
                    </a:p>
                  </a:txBody>
                  <a:tcPr marL="114300" marR="114300" marT="57150" marB="57150" anchor="ctr">
                    <a:solidFill>
                      <a:srgbClr val="1F4F8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实测峰值增量</a:t>
                      </a:r>
                    </a:p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MiB</a:t>
                      </a:r>
                    </a:p>
                  </a:txBody>
                  <a:tcPr marL="114300" marR="114300" marT="57150" marB="57150" anchor="ctr">
                    <a:solidFill>
                      <a:srgbClr val="1F4F8F"/>
                    </a:solidFill>
                  </a:tcPr>
                </a:tc>
              </a:tr>
              <a:tr h="723900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MiniLM-L6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0.723665</a:t>
                      </a:r>
                    </a:p>
                    <a:p>
                      <a:pPr algn="ctr"/>
                      <a:r>
                        <a:rPr sz="172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0.723645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14.23 / 15.29 ms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10.20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13.85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BGE-large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0.790466</a:t>
                      </a:r>
                    </a:p>
                    <a:p>
                      <a:pPr algn="ctr"/>
                      <a:r>
                        <a:rPr sz="172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0.790508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42.45 / 43.47 ms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27.07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35.29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5125411-F4FA-4F4F-92FC-0A922C9F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受控测试条件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5D9B9E7-6CE5-4DE0-B400-8CC6F085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162425"/>
            <a:ext cx="8096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每次固定 64 句、batch 32，预热 5 次后同步测量 30 次。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两模型各运行 3 个独立进程，结果取中位数。冷启动首次前向单列。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ED3F3E7-AC50-47D2-A60A-EE0F0F8A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0B58E1D-8C43-4BE3-B717-D69DC9BA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05450"/>
            <a:ext cx="10734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BE5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E5127"/>
                </a:solidFill>
                <a:latin typeface="Microsoft YaHei"/>
                <a:ea typeface="Microsoft YaHei"/>
                <a:cs typeface="Microsoft YaHei"/>
              </a:rPr>
              <a:t>显存增量以预热后基线为参照，不是总显存。静态图 storage 与实测峰值仅作量级核对。</a:t>
            </a:r>
          </a:p>
        </p:txBody>
      </p:sp>
    </p:spTree>
    <p:extLst>
      <p:ext uri="{BB962C8B-B14F-4D97-AF65-F5344CB8AC3E}">
        <p14:creationId xmlns:p14="http://schemas.microsoft.com/office/powerpoint/2010/main" val="10098004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140906-6870-4600-A598-7F1C707B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"/>
            <a:ext cx="352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0552A-684F-4B57-9C3E-D52ADEB5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rPr>
              <a:t>平头哥 F08-G01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66B14-5AD8-438E-A397-A069972F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显存分析已形成，分配优化待衔接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ACE70-07CD-428F-9733-C66954D4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11315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f2abb83f54e2d"/>
          <a:stretch xmlns:a="http://schemas.openxmlformats.org/drawingml/2006/main"/>
        </p:blipFill>
        <p:spPr>
          <a:xfrm xmlns:a="http://schemas.openxmlformats.org/drawingml/2006/main">
            <a:off x="9957329" y="219075"/>
            <a:ext cx="1849967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2198D-1F0E-4D34-9A0B-F717CCF4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05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rPr>
              <a:t>BAAI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154E5-50D8-4871-8511-C5B83FDC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8B4993-AD58-40C7-81FC-662FEDF2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07346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G1 已建立模型级张量生命周期与峰值来源分析；G2 需要进一步接入实际内存分配。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5596BB-3EFF-4A58-9415-B8C28C6A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24479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C9E35F-B867-4074-816F-0AEEC922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2295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真实执行图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C8A248-CE7D-482B-B779-71F6A14A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28800"/>
            <a:ext cx="24479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21DEE1-72C1-4C34-94A9-E6D4A9D4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05000"/>
            <a:ext cx="2295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storage 别名识别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4188F4-468F-4CA7-93EA-1C469A7B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28800"/>
            <a:ext cx="24479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3202D6-2080-4B02-92EB-4D09E764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05000"/>
            <a:ext cx="2295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生命周期分析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1A6D5D-7651-4BD4-B069-BAF28433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28800"/>
            <a:ext cx="24479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55D6EC-DCF0-4E82-B0BD-DE66A583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05000"/>
            <a:ext cx="2295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峰值来源追溯</a:t>
            </a:r>
          </a:p>
        </p:txBody>
      </p:sp>
      <p:cxnSp>
        <p:nvCxnSpPr>
          <p:cNvPr id="56" name=""/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3000375" y="21717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25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5762625" y="21717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27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8524875" y="21717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5D629A-9B55-4E98-9E06-3A309D96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本月修正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188B9A-477C-4CCB-961B-3133729E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57500"/>
            <a:ext cx="8524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用运行时 storage 指针证明别名，修正 expand 视图的 storage 大小误记。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补充动态 Shape 与循环标注，形成两模型计划和峰值重算报告。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025C30-050C-47FA-B2F1-9F4443E1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可复验证据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42A9B6-DFCE-4C62-96D0-74122238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14775"/>
            <a:ext cx="8524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30 项内存单测通过，交付包 52 个文件的 SHA-256 校验通过。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真实模型均为直线 DAG，分支与异步依赖目前仅有合成用例。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6FB93A-8F47-4477-91B5-6B85B7E1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8D3C67-593A-462B-90E5-FC3BE8FD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05450"/>
            <a:ext cx="10734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BE5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E5127"/>
                </a:solidFill>
                <a:latin typeface="Microsoft YaHei"/>
                <a:ea typeface="Microsoft YaHei"/>
                <a:cs typeface="Microsoft YaHei"/>
              </a:rPr>
              <a:t>下一步：确认跨 Kernel 分配接口及回退方案，再开展同协议 A/B。PyTorch 分配器复用不计作编译器收益。</a:t>
            </a:r>
          </a:p>
        </p:txBody>
      </p:sp>
    </p:spTree>
    <p:extLst>
      <p:ext uri="{BB962C8B-B14F-4D97-AF65-F5344CB8AC3E}">
        <p14:creationId xmlns:p14="http://schemas.microsoft.com/office/powerpoint/2010/main" val="2309614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69D97-E6C1-4239-918C-C6DF2A74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"/>
            <a:ext cx="352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BFB1B-A211-406B-9A7C-20214989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rPr>
              <a:t>壁仞 Supa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9E347-E8C0-4D59-925B-40F685D1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壁仞标准编译执行链待复核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037E4-8BBA-4AF0-9D44-ABB059B9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11315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550c18a7740c5"/>
          <a:stretch xmlns:a="http://schemas.openxmlformats.org/drawingml/2006/main"/>
        </p:blipFill>
        <p:spPr>
          <a:xfrm xmlns:a="http://schemas.openxmlformats.org/drawingml/2006/main">
            <a:off x="9957329" y="219075"/>
            <a:ext cx="1849967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21F4C-FDC7-47DA-9800-9CCD81E0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05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rPr>
              <a:t>BAAI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D4645-9F28-428D-86A5-1386F0D9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99FA7-2694-43C2-B22E-9750EB59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07346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团队已有设备与独立算子基础，本月汇报新增的是职责梳理、接手清单和验证安排。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6CD78-A791-41BB-9578-4A53E326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团队已有基础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AB72F5-43ED-4125-883E-044F8A83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04975"/>
            <a:ext cx="8001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Docker、设备识别、Supa 注册、linked Biren ELF 加载，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以及独立 vectoradd 测试。具体编译与启动路径仍需复核。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D11E4-1AA0-4592-B105-79F9B147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908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郑凯文本月工作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7366E9-5047-4FFA-A261-07596305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71775"/>
            <a:ext cx="8001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梳理模型、Kernel、后端与 Runtime 边界，整理版本、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Launcher、双 Die 和测试覆盖问题，尚无个人新增实机数据。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E09FDB-EF7D-41C2-BE6D-347EDDB6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957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下一步需要证明的标准路径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BBDA2F-136C-4855-9077-38AAAF7A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2438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EFF2B-673B-4E4D-9807-9DF4193C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@triton.jit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标准入口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F22372-481E-4081-93DD-583B0B38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38650"/>
            <a:ext cx="2438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C815B4-B82F-4D10-A8BE-A79421A8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148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FlagTree + Backend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生成目标产物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5A904A-40AD-4E4D-9B55-6D9045C6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38650"/>
            <a:ext cx="2438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026615-61B5-415A-9E1F-C9483AED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148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Supa Launcher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参数与设备启动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B3E05A-49A8-4232-9E07-3150B060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38650"/>
            <a:ext cx="2438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38912C-EA72-4B46-B81F-E2AD7FD6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148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vectoradd 结果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参考数值核对</a:t>
            </a:r>
          </a:p>
        </p:txBody>
      </p:sp>
      <p:cxnSp>
        <p:nvCxnSpPr>
          <p:cNvPr id="53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990850" y="48196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dash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753100" y="48196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dash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515350" y="48196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dash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6689C1-3FBE-447B-A5E9-F18F6052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9B7440-F8A0-4D23-A9E2-D6FA5760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0734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BE5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E5127"/>
                </a:solidFill>
                <a:latin typeface="Microsoft YaHei"/>
                <a:ea typeface="Microsoft YaHei"/>
                <a:cs typeface="Microsoft YaHei"/>
              </a:rPr>
              <a:t>关键核查：是否依赖手工产物，参数与 stream 是否正确，双 Die 实际测试范围是什么。</a:t>
            </a:r>
          </a:p>
        </p:txBody>
      </p:sp>
    </p:spTree>
    <p:extLst>
      <p:ext uri="{BB962C8B-B14F-4D97-AF65-F5344CB8AC3E}">
        <p14:creationId xmlns:p14="http://schemas.microsoft.com/office/powerpoint/2010/main" val="15177023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D3C57B-AC7A-4976-9E27-29F4D638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"/>
            <a:ext cx="352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FA7FD-F24A-471E-985A-21EDC0C5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rPr>
              <a:t>寒武纪 MLU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DE82F-8950-4FE3-9CDB-6EF6B5FA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寒武纪本月实机证据待补充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A8862-D2CA-468E-A8A3-913D867D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11315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61cc4581b4a68"/>
          <a:stretch xmlns:a="http://schemas.openxmlformats.org/drawingml/2006/main"/>
        </p:blipFill>
        <p:spPr>
          <a:xfrm xmlns:a="http://schemas.openxmlformats.org/drawingml/2006/main">
            <a:off x="9957329" y="219075"/>
            <a:ext cx="1849967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76139-D7EE-4689-8E14-3366ACCC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05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rPr>
              <a:t>BAAI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ACD0C-1EE8-43CC-9DF5-0E8CC924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0A67F4-B3C1-4618-9E19-B346961C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07346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当前材料可以确认仓库的插件接入配置，尚不能确认本项目本月的设备验证进展。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0A2C79-B112-4DEF-AA66-4E0735DD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54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能够确认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14AC22-73F2-4F06-86C4-3FB0189C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95475"/>
            <a:ext cx="8210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仓库保留 cambricon 插件后端配置，设备别名为 mlu。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这说明已有软件接入基础，不代表从零开始。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82F293-BAF8-4116-A706-4DC7CE12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9082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D4349A-D7F4-4B05-96E4-7298D544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194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需要核实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BE5A33-DCCB-486D-A0C7-FB3DF8FF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19425"/>
            <a:ext cx="8210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本项目使用的驱动、SDK、容器、代码分支与设备型号，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以及组内或上游已经完成的测试结果。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EAC464-4BEB-421A-92D0-24E5CEB6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1477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E390F5-8111-4CA5-AE49-E26639A9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433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补充证据顺序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A5F0D5-7F0D-4439-98F5-FF627D51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43375"/>
            <a:ext cx="8210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先复现已有结果，再核验 vectoradd、matmul / reduction，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记录编译、加载、启动和数值结果，随后扩展到代表模型。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009172-EC47-409B-B163-269DDB3A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5307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12550A-5B0B-4B46-8381-B16C7F08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43575"/>
            <a:ext cx="10734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BE51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BE5127"/>
                </a:solidFill>
                <a:latin typeface="Microsoft YaHei"/>
                <a:ea typeface="Microsoft YaHei"/>
                <a:cs typeface="Microsoft YaHei"/>
              </a:rPr>
              <a:t>月度状态：本次材料未提供本月实机数据。该结论不评价寒武纪产品或上游后端的整体能力。</a:t>
            </a:r>
          </a:p>
        </p:txBody>
      </p:sp>
    </p:spTree>
    <p:extLst>
      <p:ext uri="{BB962C8B-B14F-4D97-AF65-F5344CB8AC3E}">
        <p14:creationId xmlns:p14="http://schemas.microsoft.com/office/powerpoint/2010/main" val="9215256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4B6D1F-67F7-4745-8CAF-8B42C98C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"/>
            <a:ext cx="352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F9B9D-B656-4B50-A0D3-F7D7FB2D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rPr>
              <a:t>推进计划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38C38-152E-48B0-8D9A-82511D9D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下月工作与验收证据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85B8C-6C52-4BB8-BA14-74DDA7B8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11315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48e97d11e4e67"/>
          <a:stretch xmlns:a="http://schemas.openxmlformats.org/drawingml/2006/main"/>
        </p:blipFill>
        <p:spPr>
          <a:xfrm xmlns:a="http://schemas.openxmlformats.org/drawingml/2006/main">
            <a:off x="9957329" y="219075"/>
            <a:ext cx="1849967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F51DA-241A-46E7-8BDF-28A9D227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05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rPr>
              <a:t>BAAI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8CE93-4A21-4405-A055-CD884E5E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5F464F-43E4-44E9-B895-222E6A0D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07346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以下为建议优先项，工作量与排期需在环境、模型和接口确认后进一步落实。</a:t>
            </a:r>
          </a:p>
        </p:txBody>
      </p:sp>
      <p:graphicFrame>
        <p:nvGraphicFramePr>
          <p:cNvPr id="46" name=""/>
          <p:cNvGraphicFramePr/>
          <p:nvPr/>
        </p:nvGraphicFramePr>
        <p:xfrm>
          <a:off xmlns:a="http://schemas.openxmlformats.org/drawingml/2006/main" x="552450" y="1666875"/>
          <a:ext xmlns:a="http://schemas.openxmlformats.org/drawingml/2006/main" cx="10734675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7945"/>
                <a:gridCol w="3276901"/>
                <a:gridCol w="3050908"/>
                <a:gridCol w="2598921"/>
              </a:tblGrid>
              <a:tr h="438150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工作线</a:t>
                      </a:r>
                    </a:p>
                  </a:txBody>
                  <a:tcPr marL="114300" marR="114300" marT="57150" marB="57150" anchor="ctr">
                    <a:solidFill>
                      <a:srgbClr val="1F4F8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建议优先任务</a:t>
                      </a:r>
                    </a:p>
                  </a:txBody>
                  <a:tcPr marL="114300" marR="114300" marT="57150" marB="57150" anchor="ctr">
                    <a:solidFill>
                      <a:srgbClr val="1F4F8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验收时应提供</a:t>
                      </a:r>
                    </a:p>
                  </a:txBody>
                  <a:tcPr marL="114300" marR="114300" marT="57150" marB="57150" anchor="ctr">
                    <a:solidFill>
                      <a:srgbClr val="1F4F8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前置依赖</a:t>
                      </a:r>
                    </a:p>
                  </a:txBody>
                  <a:tcPr marL="114300" marR="114300" marT="57150" marB="57150" anchor="ctr">
                    <a:solidFill>
                      <a:srgbClr val="1F4F8F"/>
                    </a:solidFill>
                  </a:tcPr>
                </a:tc>
              </a:tr>
              <a:tr h="666750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昆仑芯 / 公共前端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扩大模型审计与动态范围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补齐高频转换、语义缺口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转换、导出、执行、语义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分别统计成功与失败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模型及权重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动态范围与阈值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昇腾缓存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损坏缓存、版本失效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编译失败回退与模型回归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重复测试日志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同条件改造前后对照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 CANN 与编译器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明确回退策略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</a:tr>
              <a:tr h="666750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平头哥显存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确认跨 Kernel 分配接口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实现可回退的 G2 实验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同模型同协议 A/B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数值、峰值与延迟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分配接口与 Runtime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支持边界确认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壁仞后端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复现已有 vectoradd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核实标准入口及 Launcher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编译阶段与启动日志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多长度、类型正确性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版本与测试交接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厂商工程师支持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</a:tr>
              <a:tr h="666750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寒武纪后端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核实并复用既有适配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补充项目内设备复验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环境清单和基础算子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编译执行记录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设备、SDK 与容器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既有代码及日志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7605B6-9A00-41FC-AF17-D709C06F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9595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362794-BF45-44E9-82B5-E8E0CC70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0734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公共记录要求：固定版本与输入，标明 FlagGems 开关，分开统计首次编译、缓存命中和稳态执行。</a:t>
            </a:r>
          </a:p>
        </p:txBody>
      </p:sp>
    </p:spTree>
    <p:extLst>
      <p:ext uri="{BB962C8B-B14F-4D97-AF65-F5344CB8AC3E}">
        <p14:creationId xmlns:p14="http://schemas.microsoft.com/office/powerpoint/2010/main" val="10368050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3FB83-4635-454E-9C8A-E31F82A6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"/>
            <a:ext cx="352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43993-3188-4E4D-AD24-101BEAF5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rPr>
              <a:t>汇报小结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D9456-9DE4-4AAB-94EA-3F364FCA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项目协同与月度结论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EB06D-6291-4966-AA71-250C7EF1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11315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004dc08a346a7"/>
          <a:stretch xmlns:a="http://schemas.openxmlformats.org/drawingml/2006/main"/>
        </p:blipFill>
        <p:spPr>
          <a:xfrm xmlns:a="http://schemas.openxmlformats.org/drawingml/2006/main">
            <a:off x="9957329" y="219075"/>
            <a:ext cx="1849967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30E14-251D-4824-A4D5-EF4875A3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05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rPr>
              <a:t>BAAI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7CA5D-643C-4BAB-8727-A8981DAF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012AFF-BF78-418A-B3EA-F681C767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07346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下一阶段优先把现有结果扩展成可重复的测试记录，再依据测量结果开展针对性优化。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E939AF-EF22-4BC3-92C8-A238FF00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02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模型与验收口径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86D3C4-E9FD-47D4-98D0-22C44568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00225"/>
            <a:ext cx="78962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确认项目模型清单、可用权重、输入动态范围和精度阈值。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统一首次编译、热缓存、稳态延迟及显存的测量定义。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5965D-1BD4-4E78-8EF0-D7FDD4C9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119628-AFE7-4234-A4DC-DFD01AAA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241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环境与交接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DD9219-7470-4C9C-9776-8424800F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24175"/>
            <a:ext cx="78962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各平台提供版本清单、现有测试入口和维护人。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先复现已有成果，减少重复适配与环境差异。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A71A40-BDEE-4433-ABA1-8E1B7713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3857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38C0A5-727A-4091-93A8-72CCF69E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481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厂商与接口支持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B93842-656C-412B-8680-20D88C78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48125"/>
            <a:ext cx="78962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协助对接壁仞编译及 Runtime 工程师，确认 Launcher 与 SDK。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协调平头哥模型级分配接口，补齐寒武纪项目内实机记录。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84B223-3B88-4AB6-B678-9908AB3B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5CB16B-CF46-4663-87C1-8971D62B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0734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总体仍处于分平台验证与工程补齐阶段。已形成代表性成果，规模化覆盖和优化收益仍需继续证明。</a:t>
            </a:r>
          </a:p>
        </p:txBody>
      </p:sp>
    </p:spTree>
    <p:extLst>
      <p:ext uri="{BB962C8B-B14F-4D97-AF65-F5344CB8AC3E}">
        <p14:creationId xmlns:p14="http://schemas.microsoft.com/office/powerpoint/2010/main" val="10376170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CCD54A-FA68-45CE-B5D1-D33CA417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"/>
            <a:ext cx="352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9CAE4-51FD-47FB-8655-15DF90F6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18447-0ADB-4289-9EF4-FE724B10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组员贡献与材料索引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27FC2-809C-4D19-AB55-E90B13C6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11315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0e934f52f44bd"/>
          <a:stretch xmlns:a="http://schemas.openxmlformats.org/drawingml/2006/main"/>
        </p:blipFill>
        <p:spPr>
          <a:xfrm xmlns:a="http://schemas.openxmlformats.org/drawingml/2006/main">
            <a:off x="9957329" y="219075"/>
            <a:ext cx="1849967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46E30-CB64-48F2-8C64-86E1D030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05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rPr>
              <a:t>BAAI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CFD53-34B8-41BE-A394-B59437B5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C80CC5-0F2C-42D2-BFF0-08566F15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07346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各工作线分别归属和留存证据，未经确认的分支与设备结果不合并为同一项交付。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552450" y="1666875"/>
          <a:ext xmlns:a="http://schemas.openxmlformats.org/drawingml/2006/main" cx="10734675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8276"/>
                <a:gridCol w="4355211"/>
                <a:gridCol w="4171188"/>
              </a:tblGrid>
              <a:tr h="438150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工作线</a:t>
                      </a:r>
                    </a:p>
                  </a:txBody>
                  <a:tcPr marL="114300" marR="114300" marT="57150" marB="57150" anchor="ctr">
                    <a:solidFill>
                      <a:srgbClr val="1F4F8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本次纳入的交付</a:t>
                      </a:r>
                    </a:p>
                  </a:txBody>
                  <a:tcPr marL="114300" marR="114300" marT="57150" marB="57150" anchor="ctr">
                    <a:solidFill>
                      <a:srgbClr val="1F4F8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marL="114300" marR="114300" marT="57150" marB="57150" anchor="ctr">
                    <a:solidFill>
                      <a:srgbClr val="1F4F8F"/>
                    </a:solidFill>
                  </a:tcPr>
                </a:tc>
              </a:tr>
              <a:tr h="723900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多框架接入</a:t>
                      </a:r>
                    </a:p>
                    <a:p>
                      <a:pPr algn="l"/>
                      <a:r>
                        <a:rPr sz="1725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与统一 IR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动态模型产物、语义审计及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XPU 代表性复验，代码在 dev/hx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前两个功能模块阶段成果汇报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2026-09-22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昇腾缓存专项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缓存链路分析、版本指纹改造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 910C 初验，独立分支待合入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编译优化层阶段工作总结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2026-09-23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</a:tr>
              <a:tr h="723900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F08-G01</a:t>
                      </a:r>
                    </a:p>
                    <a:p>
                      <a:pPr algn="l"/>
                      <a:r>
                        <a:rPr sz="1725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生命周期分析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两模型计划与测试报告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项单测，52 文件校验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F08-G01 两周工作汇报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2026-09-23</a:t>
                      </a: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郑凯文</a:t>
                      </a:r>
                    </a:p>
                    <a:p>
                      <a:pPr algn="l"/>
                      <a:r>
                        <a:rPr sz="1725" b="1">
                          <a:solidFill>
                            <a:srgbClr val="1F4F8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壁仞适配预研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职责边界、接手问题清单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与标准入口验证安排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  <a:tc>
                  <a:txBody>
                    <a:bodyPr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郑凯文 近期工作汇报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7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2026-09-23</a:t>
                      </a:r>
                    </a:p>
                  </a:txBody>
                  <a:tcPr marL="114300" marR="114300" marT="57150" marB="57150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C47FDD-699C-4EE6-9CC7-85369B52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F5B8EE-6F1B-4A3A-AA7A-FEA02E9E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10734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完整文件名与细节见各页备注。后续月报以新增复验结果、解决的问题及剩余差距为更新依据。</a:t>
            </a:r>
          </a:p>
        </p:txBody>
      </p:sp>
    </p:spTree>
    <p:extLst>
      <p:ext uri="{BB962C8B-B14F-4D97-AF65-F5344CB8AC3E}">
        <p14:creationId xmlns:p14="http://schemas.microsoft.com/office/powerpoint/2010/main" val="18504311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2026-09-23T14:16:31.8620000Z</dcterms:created>
  <dcterms:modified xsi:type="dcterms:W3CDTF">2026-09-23T14:16:31.8620000Z</dcterms:modified>
</coreProperties>
</file>